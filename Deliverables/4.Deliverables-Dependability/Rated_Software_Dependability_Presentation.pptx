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246B3B-8ED0-44C9-944B-42B370E33661}">
  <a:tblStyle styleId="{3E246B3B-8ED0-44C9-944B-42B370E336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 name="Google Shape;32;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1" name="Google Shape;41;p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2" name="Google Shape;42;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5" name="Google Shape;45;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rtl="0" algn="ctr">
              <a:spcBef>
                <a:spcPts val="640"/>
              </a:spcBef>
              <a:spcAft>
                <a:spcPts val="0"/>
              </a:spcAft>
              <a:buClr>
                <a:srgbClr val="888888"/>
              </a:buClr>
              <a:buSzPts val="3200"/>
              <a:buNone/>
              <a:defRPr>
                <a:solidFill>
                  <a:srgbClr val="888888"/>
                </a:solidFill>
              </a:defRPr>
            </a:lvl1pPr>
            <a:lvl2pPr lvl="1" rtl="0" algn="ctr">
              <a:spcBef>
                <a:spcPts val="560"/>
              </a:spcBef>
              <a:spcAft>
                <a:spcPts val="0"/>
              </a:spcAft>
              <a:buClr>
                <a:srgbClr val="888888"/>
              </a:buClr>
              <a:buSzPts val="2800"/>
              <a:buNone/>
              <a:defRPr>
                <a:solidFill>
                  <a:srgbClr val="888888"/>
                </a:solidFill>
              </a:defRPr>
            </a:lvl2pPr>
            <a:lvl3pPr lvl="2" rtl="0" algn="ctr">
              <a:spcBef>
                <a:spcPts val="480"/>
              </a:spcBef>
              <a:spcAft>
                <a:spcPts val="0"/>
              </a:spcAft>
              <a:buClr>
                <a:srgbClr val="888888"/>
              </a:buClr>
              <a:buSzPts val="2400"/>
              <a:buNone/>
              <a:defRPr>
                <a:solidFill>
                  <a:srgbClr val="888888"/>
                </a:solidFill>
              </a:defRPr>
            </a:lvl3pPr>
            <a:lvl4pPr lvl="3" rtl="0" algn="ctr">
              <a:spcBef>
                <a:spcPts val="400"/>
              </a:spcBef>
              <a:spcAft>
                <a:spcPts val="0"/>
              </a:spcAft>
              <a:buClr>
                <a:srgbClr val="888888"/>
              </a:buClr>
              <a:buSzPts val="2000"/>
              <a:buNone/>
              <a:defRPr>
                <a:solidFill>
                  <a:srgbClr val="888888"/>
                </a:solidFill>
              </a:defRPr>
            </a:lvl4pPr>
            <a:lvl5pPr lvl="4" rtl="0" algn="ctr">
              <a:spcBef>
                <a:spcPts val="400"/>
              </a:spcBef>
              <a:spcAft>
                <a:spcPts val="0"/>
              </a:spcAft>
              <a:buClr>
                <a:srgbClr val="888888"/>
              </a:buClr>
              <a:buSzPts val="2000"/>
              <a:buNone/>
              <a:defRPr>
                <a:solidFill>
                  <a:srgbClr val="888888"/>
                </a:solidFill>
              </a:defRPr>
            </a:lvl5pPr>
            <a:lvl6pPr lvl="5" rtl="0" algn="ctr">
              <a:spcBef>
                <a:spcPts val="400"/>
              </a:spcBef>
              <a:spcAft>
                <a:spcPts val="0"/>
              </a:spcAft>
              <a:buClr>
                <a:srgbClr val="888888"/>
              </a:buClr>
              <a:buSzPts val="2000"/>
              <a:buNone/>
              <a:defRPr>
                <a:solidFill>
                  <a:srgbClr val="888888"/>
                </a:solidFill>
              </a:defRPr>
            </a:lvl6pPr>
            <a:lvl7pPr lvl="6" rtl="0" algn="ctr">
              <a:spcBef>
                <a:spcPts val="400"/>
              </a:spcBef>
              <a:spcAft>
                <a:spcPts val="0"/>
              </a:spcAft>
              <a:buClr>
                <a:srgbClr val="888888"/>
              </a:buClr>
              <a:buSzPts val="2000"/>
              <a:buNone/>
              <a:defRPr>
                <a:solidFill>
                  <a:srgbClr val="888888"/>
                </a:solidFill>
              </a:defRPr>
            </a:lvl7pPr>
            <a:lvl8pPr lvl="7" rtl="0" algn="ctr">
              <a:spcBef>
                <a:spcPts val="400"/>
              </a:spcBef>
              <a:spcAft>
                <a:spcPts val="0"/>
              </a:spcAft>
              <a:buClr>
                <a:srgbClr val="888888"/>
              </a:buClr>
              <a:buSzPts val="2000"/>
              <a:buNone/>
              <a:defRPr>
                <a:solidFill>
                  <a:srgbClr val="888888"/>
                </a:solidFill>
              </a:defRPr>
            </a:lvl8pPr>
            <a:lvl9pPr lvl="8" rtl="0" algn="ctr">
              <a:spcBef>
                <a:spcPts val="400"/>
              </a:spcBef>
              <a:spcAft>
                <a:spcPts val="0"/>
              </a:spcAft>
              <a:buClr>
                <a:srgbClr val="888888"/>
              </a:buClr>
              <a:buSzPts val="2000"/>
              <a:buNone/>
              <a:defRPr>
                <a:solidFill>
                  <a:srgbClr val="888888"/>
                </a:solidFill>
              </a:defRPr>
            </a:lvl9pPr>
          </a:lstStyle>
          <a:p/>
        </p:txBody>
      </p:sp>
      <p:sp>
        <p:nvSpPr>
          <p:cNvPr id="46" name="Google Shape;46;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7" name="Google Shape;47;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8" name="Google Shape;48;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52" name="Google Shape;52;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 name="Google Shape;53;p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4" name="Google Shape;54;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rtl="0" algn="l">
              <a:spcBef>
                <a:spcPts val="0"/>
              </a:spcBef>
              <a:spcAft>
                <a:spcPts val="0"/>
              </a:spcAft>
              <a:buClr>
                <a:schemeClr val="dk1"/>
              </a:buClr>
              <a:buSzPts val="4000"/>
              <a:buFont typeface="Calibri"/>
              <a:buNone/>
              <a:defRPr b="1" sz="4000"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7" name="Google Shape;57;p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rtl="0" algn="l">
              <a:spcBef>
                <a:spcPts val="400"/>
              </a:spcBef>
              <a:spcAft>
                <a:spcPts val="0"/>
              </a:spcAft>
              <a:buClr>
                <a:srgbClr val="888888"/>
              </a:buClr>
              <a:buSzPts val="2000"/>
              <a:buNone/>
              <a:defRPr sz="2000">
                <a:solidFill>
                  <a:srgbClr val="888888"/>
                </a:solidFill>
              </a:defRPr>
            </a:lvl1pPr>
            <a:lvl2pPr indent="-228600" lvl="1" marL="914400" rtl="0" algn="l">
              <a:spcBef>
                <a:spcPts val="360"/>
              </a:spcBef>
              <a:spcAft>
                <a:spcPts val="0"/>
              </a:spcAft>
              <a:buClr>
                <a:srgbClr val="888888"/>
              </a:buClr>
              <a:buSzPts val="1800"/>
              <a:buNone/>
              <a:defRPr sz="1800">
                <a:solidFill>
                  <a:srgbClr val="888888"/>
                </a:solidFill>
              </a:defRPr>
            </a:lvl2pPr>
            <a:lvl3pPr indent="-228600" lvl="2" marL="1371600" rtl="0" algn="l">
              <a:spcBef>
                <a:spcPts val="320"/>
              </a:spcBef>
              <a:spcAft>
                <a:spcPts val="0"/>
              </a:spcAft>
              <a:buClr>
                <a:srgbClr val="888888"/>
              </a:buClr>
              <a:buSzPts val="1600"/>
              <a:buNone/>
              <a:defRPr sz="1600">
                <a:solidFill>
                  <a:srgbClr val="888888"/>
                </a:solidFill>
              </a:defRPr>
            </a:lvl3pPr>
            <a:lvl4pPr indent="-228600" lvl="3" marL="1828800" rtl="0" algn="l">
              <a:spcBef>
                <a:spcPts val="280"/>
              </a:spcBef>
              <a:spcAft>
                <a:spcPts val="0"/>
              </a:spcAft>
              <a:buClr>
                <a:srgbClr val="888888"/>
              </a:buClr>
              <a:buSzPts val="1400"/>
              <a:buNone/>
              <a:defRPr sz="1400">
                <a:solidFill>
                  <a:srgbClr val="888888"/>
                </a:solidFill>
              </a:defRPr>
            </a:lvl4pPr>
            <a:lvl5pPr indent="-228600" lvl="4" marL="2286000" rtl="0" algn="l">
              <a:spcBef>
                <a:spcPts val="280"/>
              </a:spcBef>
              <a:spcAft>
                <a:spcPts val="0"/>
              </a:spcAft>
              <a:buClr>
                <a:srgbClr val="888888"/>
              </a:buClr>
              <a:buSzPts val="1400"/>
              <a:buNone/>
              <a:defRPr sz="1400">
                <a:solidFill>
                  <a:srgbClr val="888888"/>
                </a:solidFill>
              </a:defRPr>
            </a:lvl5pPr>
            <a:lvl6pPr indent="-228600" lvl="5" marL="2743200" rtl="0" algn="l">
              <a:spcBef>
                <a:spcPts val="280"/>
              </a:spcBef>
              <a:spcAft>
                <a:spcPts val="0"/>
              </a:spcAft>
              <a:buClr>
                <a:srgbClr val="888888"/>
              </a:buClr>
              <a:buSzPts val="1400"/>
              <a:buNone/>
              <a:defRPr sz="1400">
                <a:solidFill>
                  <a:srgbClr val="888888"/>
                </a:solidFill>
              </a:defRPr>
            </a:lvl6pPr>
            <a:lvl7pPr indent="-228600" lvl="6" marL="3200400" rtl="0" algn="l">
              <a:spcBef>
                <a:spcPts val="280"/>
              </a:spcBef>
              <a:spcAft>
                <a:spcPts val="0"/>
              </a:spcAft>
              <a:buClr>
                <a:srgbClr val="888888"/>
              </a:buClr>
              <a:buSzPts val="1400"/>
              <a:buNone/>
              <a:defRPr sz="1400">
                <a:solidFill>
                  <a:srgbClr val="888888"/>
                </a:solidFill>
              </a:defRPr>
            </a:lvl7pPr>
            <a:lvl8pPr indent="-228600" lvl="7" marL="3657600" rtl="0" algn="l">
              <a:spcBef>
                <a:spcPts val="280"/>
              </a:spcBef>
              <a:spcAft>
                <a:spcPts val="0"/>
              </a:spcAft>
              <a:buClr>
                <a:srgbClr val="888888"/>
              </a:buClr>
              <a:buSzPts val="1400"/>
              <a:buNone/>
              <a:defRPr sz="1400">
                <a:solidFill>
                  <a:srgbClr val="888888"/>
                </a:solidFill>
              </a:defRPr>
            </a:lvl8pPr>
            <a:lvl9pPr indent="-228600" lvl="8" marL="4114800" rtl="0" algn="l">
              <a:spcBef>
                <a:spcPts val="280"/>
              </a:spcBef>
              <a:spcAft>
                <a:spcPts val="0"/>
              </a:spcAft>
              <a:buClr>
                <a:srgbClr val="888888"/>
              </a:buClr>
              <a:buSzPts val="1400"/>
              <a:buNone/>
              <a:defRPr sz="1400">
                <a:solidFill>
                  <a:srgbClr val="888888"/>
                </a:solidFill>
              </a:defRPr>
            </a:lvl9pPr>
          </a:lstStyle>
          <a:p/>
        </p:txBody>
      </p:sp>
      <p:sp>
        <p:nvSpPr>
          <p:cNvPr id="58" name="Google Shape;58;p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 name="Google Shape;59;p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0" name="Google Shape;60;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3" name="Google Shape;63;p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64" name="Google Shape;64;p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65" name="Google Shape;65;p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p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44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 name="Google Shape;70;p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71" name="Google Shape;71;p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72" name="Google Shape;72;p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73" name="Google Shape;73;p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74" name="Google Shape;74;p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5" name="Google Shape;75;p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6" name="Google Shape;76;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0" name="Google Shape;80;p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1" name="Google Shape;81;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2" name="Shape 82"/>
        <p:cNvGrpSpPr/>
        <p:nvPr/>
      </p:nvGrpSpPr>
      <p:grpSpPr>
        <a:xfrm>
          <a:off x="0" y="0"/>
          <a:ext cx="0" cy="0"/>
          <a:chOff x="0" y="0"/>
          <a:chExt cx="0" cy="0"/>
        </a:xfrm>
      </p:grpSpPr>
      <p:sp>
        <p:nvSpPr>
          <p:cNvPr id="83" name="Google Shape;83;p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dk1"/>
              </a:buClr>
              <a:buSzPts val="2000"/>
              <a:buFont typeface="Calibri"/>
              <a:buNone/>
              <a:defRPr b="1"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4" name="Google Shape;84;p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rtl="0" algn="l">
              <a:spcBef>
                <a:spcPts val="640"/>
              </a:spcBef>
              <a:spcAft>
                <a:spcPts val="0"/>
              </a:spcAft>
              <a:buClr>
                <a:schemeClr val="dk1"/>
              </a:buClr>
              <a:buSzPts val="3200"/>
              <a:buChar char="•"/>
              <a:defRPr sz="3200"/>
            </a:lvl1pPr>
            <a:lvl2pPr indent="-406400" lvl="1" marL="914400" rtl="0" algn="l">
              <a:spcBef>
                <a:spcPts val="560"/>
              </a:spcBef>
              <a:spcAft>
                <a:spcPts val="0"/>
              </a:spcAft>
              <a:buClr>
                <a:schemeClr val="dk1"/>
              </a:buClr>
              <a:buSzPts val="2800"/>
              <a:buChar char="–"/>
              <a:defRPr sz="2800"/>
            </a:lvl2pPr>
            <a:lvl3pPr indent="-381000" lvl="2" marL="1371600" rtl="0" algn="l">
              <a:spcBef>
                <a:spcPts val="480"/>
              </a:spcBef>
              <a:spcAft>
                <a:spcPts val="0"/>
              </a:spcAft>
              <a:buClr>
                <a:schemeClr val="dk1"/>
              </a:buClr>
              <a:buSzPts val="2400"/>
              <a:buChar char="•"/>
              <a:defRPr sz="2400"/>
            </a:lvl3pPr>
            <a:lvl4pPr indent="-355600" lvl="3" marL="1828800" rtl="0" algn="l">
              <a:spcBef>
                <a:spcPts val="400"/>
              </a:spcBef>
              <a:spcAft>
                <a:spcPts val="0"/>
              </a:spcAft>
              <a:buClr>
                <a:schemeClr val="dk1"/>
              </a:buClr>
              <a:buSzPts val="2000"/>
              <a:buChar char="–"/>
              <a:defRPr sz="2000"/>
            </a:lvl4pPr>
            <a:lvl5pPr indent="-355600" lvl="4" marL="2286000" rtl="0" algn="l">
              <a:spcBef>
                <a:spcPts val="400"/>
              </a:spcBef>
              <a:spcAft>
                <a:spcPts val="0"/>
              </a:spcAft>
              <a:buClr>
                <a:schemeClr val="dk1"/>
              </a:buClr>
              <a:buSzPts val="2000"/>
              <a:buChar char="»"/>
              <a:defRPr sz="2000"/>
            </a:lvl5pPr>
            <a:lvl6pPr indent="-355600" lvl="5" marL="2743200" rtl="0" algn="l">
              <a:spcBef>
                <a:spcPts val="400"/>
              </a:spcBef>
              <a:spcAft>
                <a:spcPts val="0"/>
              </a:spcAft>
              <a:buClr>
                <a:schemeClr val="dk1"/>
              </a:buClr>
              <a:buSzPts val="2000"/>
              <a:buChar char="•"/>
              <a:defRPr sz="2000"/>
            </a:lvl6pPr>
            <a:lvl7pPr indent="-355600" lvl="6" marL="3200400" rtl="0" algn="l">
              <a:spcBef>
                <a:spcPts val="400"/>
              </a:spcBef>
              <a:spcAft>
                <a:spcPts val="0"/>
              </a:spcAft>
              <a:buClr>
                <a:schemeClr val="dk1"/>
              </a:buClr>
              <a:buSzPts val="2000"/>
              <a:buChar char="•"/>
              <a:defRPr sz="2000"/>
            </a:lvl7pPr>
            <a:lvl8pPr indent="-355600" lvl="7" marL="3657600" rtl="0" algn="l">
              <a:spcBef>
                <a:spcPts val="400"/>
              </a:spcBef>
              <a:spcAft>
                <a:spcPts val="0"/>
              </a:spcAft>
              <a:buClr>
                <a:schemeClr val="dk1"/>
              </a:buClr>
              <a:buSzPts val="2000"/>
              <a:buChar char="•"/>
              <a:defRPr sz="2000"/>
            </a:lvl8pPr>
            <a:lvl9pPr indent="-355600" lvl="8" marL="4114800" rtl="0" algn="l">
              <a:spcBef>
                <a:spcPts val="400"/>
              </a:spcBef>
              <a:spcAft>
                <a:spcPts val="0"/>
              </a:spcAft>
              <a:buClr>
                <a:schemeClr val="dk1"/>
              </a:buClr>
              <a:buSzPts val="2000"/>
              <a:buChar char="•"/>
              <a:defRPr sz="2000"/>
            </a:lvl9pPr>
          </a:lstStyle>
          <a:p/>
        </p:txBody>
      </p:sp>
      <p:sp>
        <p:nvSpPr>
          <p:cNvPr id="85" name="Google Shape;85;p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86" name="Google Shape;86;p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8" name="Google Shape;88;p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1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dk1"/>
              </a:buClr>
              <a:buSzPts val="2000"/>
              <a:buFont typeface="Calibri"/>
              <a:buNone/>
              <a:defRPr b="1"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 name="Google Shape;91;p10"/>
          <p:cNvSpPr/>
          <p:nvPr>
            <p:ph idx="2" type="pic"/>
          </p:nvPr>
        </p:nvSpPr>
        <p:spPr>
          <a:xfrm>
            <a:off x="1792288" y="612775"/>
            <a:ext cx="5486400" cy="4114800"/>
          </a:xfrm>
          <a:prstGeom prst="rect">
            <a:avLst/>
          </a:prstGeom>
          <a:noFill/>
          <a:ln>
            <a:noFill/>
          </a:ln>
        </p:spPr>
      </p:sp>
      <p:sp>
        <p:nvSpPr>
          <p:cNvPr id="92" name="Google Shape;92;p1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93" name="Google Shape;93;p1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4" name="Google Shape;94;p1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5" name="Google Shape;95;p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8" name="Google Shape;98;p1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99" name="Google Shape;99;p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4" name="Google Shape;104;p1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05" name="Google Shape;105;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6" name="Google Shape;106;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7" name="Google Shape;107;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35" name="Google Shape;35;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 name="Google Shape;36;p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1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3"/>
          <p:cNvSpPr/>
          <p:nvPr/>
        </p:nvSpPr>
        <p:spPr>
          <a:xfrm>
            <a:off x="0" y="0"/>
            <a:ext cx="12191700" cy="2925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13"/>
          <p:cNvSpPr txBox="1"/>
          <p:nvPr/>
        </p:nvSpPr>
        <p:spPr>
          <a:xfrm>
            <a:off x="822960" y="1417320"/>
            <a:ext cx="78639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a:solidFill>
                  <a:srgbClr val="B8860B"/>
                </a:solidFill>
                <a:latin typeface="Calibri"/>
                <a:ea typeface="Calibri"/>
                <a:cs typeface="Calibri"/>
                <a:sym typeface="Calibri"/>
              </a:rPr>
              <a:t>UNIVERSITÀ DEGLI STUDI DI SALERNO  ·  SOFTWARE DEPENDABILITY </a:t>
            </a:r>
            <a:endParaRPr/>
          </a:p>
        </p:txBody>
      </p:sp>
      <p:sp>
        <p:nvSpPr>
          <p:cNvPr id="114" name="Google Shape;114;p13"/>
          <p:cNvSpPr txBox="1"/>
          <p:nvPr/>
        </p:nvSpPr>
        <p:spPr>
          <a:xfrm>
            <a:off x="777240" y="1828800"/>
            <a:ext cx="7863900" cy="118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800">
                <a:solidFill>
                  <a:srgbClr val="16181D"/>
                </a:solidFill>
                <a:latin typeface="Calibri"/>
                <a:ea typeface="Calibri"/>
                <a:cs typeface="Calibri"/>
                <a:sym typeface="Calibri"/>
              </a:rPr>
              <a:t>Rated</a:t>
            </a:r>
            <a:endParaRPr/>
          </a:p>
        </p:txBody>
      </p:sp>
      <p:sp>
        <p:nvSpPr>
          <p:cNvPr id="115" name="Google Shape;115;p13"/>
          <p:cNvSpPr txBox="1"/>
          <p:nvPr/>
        </p:nvSpPr>
        <p:spPr>
          <a:xfrm>
            <a:off x="822960" y="3063240"/>
            <a:ext cx="7863900" cy="54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700">
                <a:solidFill>
                  <a:srgbClr val="5B6270"/>
                </a:solidFill>
                <a:latin typeface="Calibri"/>
                <a:ea typeface="Calibri"/>
                <a:cs typeface="Calibri"/>
                <a:sym typeface="Calibri"/>
              </a:rPr>
              <a:t>Software Dependability Report</a:t>
            </a:r>
            <a:endParaRPr/>
          </a:p>
        </p:txBody>
      </p:sp>
      <p:sp>
        <p:nvSpPr>
          <p:cNvPr id="116" name="Google Shape;116;p13"/>
          <p:cNvSpPr/>
          <p:nvPr/>
        </p:nvSpPr>
        <p:spPr>
          <a:xfrm>
            <a:off x="822960" y="3886200"/>
            <a:ext cx="1463100" cy="549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13"/>
          <p:cNvSpPr txBox="1"/>
          <p:nvPr/>
        </p:nvSpPr>
        <p:spPr>
          <a:xfrm>
            <a:off x="822960" y="4206240"/>
            <a:ext cx="78639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a:solidFill>
                  <a:srgbClr val="16181D"/>
                </a:solidFill>
                <a:latin typeface="Calibri"/>
                <a:ea typeface="Calibri"/>
                <a:cs typeface="Calibri"/>
                <a:sym typeface="Calibri"/>
              </a:rPr>
              <a:t>Bruno Nesticò  ·  Francesco Rao</a:t>
            </a:r>
            <a:r>
              <a:rPr b="1" lang="en-US" sz="1700">
                <a:solidFill>
                  <a:srgbClr val="16181D"/>
                </a:solidFill>
                <a:latin typeface="Calibri"/>
                <a:ea typeface="Calibri"/>
                <a:cs typeface="Calibri"/>
                <a:sym typeface="Calibri"/>
              </a:rPr>
              <a:t> ·  Roberto Fiorenza</a:t>
            </a:r>
            <a:endParaRPr b="1" i="0" sz="1700">
              <a:solidFill>
                <a:srgbClr val="16181D"/>
              </a:solidFill>
              <a:latin typeface="Calibri"/>
              <a:ea typeface="Calibri"/>
              <a:cs typeface="Calibri"/>
              <a:sym typeface="Calibri"/>
            </a:endParaRPr>
          </a:p>
        </p:txBody>
      </p:sp>
      <p:sp>
        <p:nvSpPr>
          <p:cNvPr id="118" name="Google Shape;118;p13"/>
          <p:cNvSpPr txBox="1"/>
          <p:nvPr/>
        </p:nvSpPr>
        <p:spPr>
          <a:xfrm>
            <a:off x="822960" y="4645152"/>
            <a:ext cx="7863900" cy="23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5B6270"/>
                </a:solidFill>
                <a:latin typeface="Calibri"/>
                <a:ea typeface="Calibri"/>
                <a:cs typeface="Calibri"/>
                <a:sym typeface="Calibri"/>
              </a:rPr>
              <a:t>10 September 2026</a:t>
            </a:r>
            <a:endParaRPr/>
          </a:p>
        </p:txBody>
      </p:sp>
      <p:sp>
        <p:nvSpPr>
          <p:cNvPr id="119" name="Google Shape;119;p13"/>
          <p:cNvSpPr txBox="1"/>
          <p:nvPr/>
        </p:nvSpPr>
        <p:spPr>
          <a:xfrm>
            <a:off x="822960" y="5029200"/>
            <a:ext cx="7863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a:solidFill>
                  <a:srgbClr val="B8860B"/>
                </a:solidFill>
                <a:latin typeface="Calibri"/>
                <a:ea typeface="Calibri"/>
                <a:cs typeface="Calibri"/>
                <a:sym typeface="Calibri"/>
              </a:rPr>
              <a:t>github.com/superfra01/Rated-Dependability</a:t>
            </a:r>
            <a:endParaRPr/>
          </a:p>
        </p:txBody>
      </p:sp>
      <p:pic>
        <p:nvPicPr>
          <p:cNvPr descr="RATED_icon.png" id="120" name="Google Shape;120;p13"/>
          <p:cNvPicPr preferRelativeResize="0"/>
          <p:nvPr/>
        </p:nvPicPr>
        <p:blipFill rotWithShape="1">
          <a:blip r:embed="rId3">
            <a:alphaModFix/>
          </a:blip>
          <a:srcRect b="0" l="0" r="0" t="0"/>
          <a:stretch/>
        </p:blipFill>
        <p:spPr>
          <a:xfrm>
            <a:off x="8412480" y="1920240"/>
            <a:ext cx="3108960" cy="31089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OUTLINE OF THE PRESENTATION</a:t>
            </a:r>
            <a:endParaRPr/>
          </a:p>
        </p:txBody>
      </p:sp>
      <p:sp>
        <p:nvSpPr>
          <p:cNvPr id="126" name="Google Shape;126;p14"/>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Index</a:t>
            </a:r>
            <a:endParaRPr b="1" i="0" sz="3000">
              <a:solidFill>
                <a:srgbClr val="16181D"/>
              </a:solidFill>
              <a:latin typeface="Calibri"/>
              <a:ea typeface="Calibri"/>
              <a:cs typeface="Calibri"/>
              <a:sym typeface="Calibri"/>
            </a:endParaRPr>
          </a:p>
        </p:txBody>
      </p:sp>
      <p:sp>
        <p:nvSpPr>
          <p:cNvPr id="127" name="Google Shape;127;p14"/>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14"/>
          <p:cNvSpPr/>
          <p:nvPr/>
        </p:nvSpPr>
        <p:spPr>
          <a:xfrm>
            <a:off x="777240" y="1874519"/>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14"/>
          <p:cNvSpPr txBox="1"/>
          <p:nvPr/>
        </p:nvSpPr>
        <p:spPr>
          <a:xfrm>
            <a:off x="777240" y="1975103"/>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1</a:t>
            </a:r>
            <a:endParaRPr/>
          </a:p>
        </p:txBody>
      </p:sp>
      <p:sp>
        <p:nvSpPr>
          <p:cNvPr id="130" name="Google Shape;130;p14"/>
          <p:cNvSpPr txBox="1"/>
          <p:nvPr/>
        </p:nvSpPr>
        <p:spPr>
          <a:xfrm>
            <a:off x="1463040" y="1975103"/>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The Rated project: context, architecture, technologies</a:t>
            </a:r>
            <a:endParaRPr/>
          </a:p>
        </p:txBody>
      </p:sp>
      <p:sp>
        <p:nvSpPr>
          <p:cNvPr id="131" name="Google Shape;131;p14"/>
          <p:cNvSpPr/>
          <p:nvPr/>
        </p:nvSpPr>
        <p:spPr>
          <a:xfrm>
            <a:off x="777240" y="2450591"/>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4"/>
          <p:cNvSpPr txBox="1"/>
          <p:nvPr/>
        </p:nvSpPr>
        <p:spPr>
          <a:xfrm>
            <a:off x="777240" y="2551175"/>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2</a:t>
            </a:r>
            <a:endParaRPr/>
          </a:p>
        </p:txBody>
      </p:sp>
      <p:sp>
        <p:nvSpPr>
          <p:cNvPr id="133" name="Google Shape;133;p14"/>
          <p:cNvSpPr txBox="1"/>
          <p:nvPr/>
        </p:nvSpPr>
        <p:spPr>
          <a:xfrm>
            <a:off x="1463040" y="2551175"/>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GitHub workflows: Continuous Integration and Continuous Delivery</a:t>
            </a:r>
            <a:endParaRPr/>
          </a:p>
        </p:txBody>
      </p:sp>
      <p:sp>
        <p:nvSpPr>
          <p:cNvPr id="134" name="Google Shape;134;p14"/>
          <p:cNvSpPr/>
          <p:nvPr/>
        </p:nvSpPr>
        <p:spPr>
          <a:xfrm>
            <a:off x="777240" y="3026663"/>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14"/>
          <p:cNvSpPr txBox="1"/>
          <p:nvPr/>
        </p:nvSpPr>
        <p:spPr>
          <a:xfrm>
            <a:off x="777240" y="3127247"/>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3</a:t>
            </a:r>
            <a:endParaRPr/>
          </a:p>
        </p:txBody>
      </p:sp>
      <p:sp>
        <p:nvSpPr>
          <p:cNvPr id="136" name="Google Shape;136;p14"/>
          <p:cNvSpPr txBox="1"/>
          <p:nvPr/>
        </p:nvSpPr>
        <p:spPr>
          <a:xfrm>
            <a:off x="1463040" y="3127247"/>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Formal verification with OpenJML</a:t>
            </a:r>
            <a:endParaRPr/>
          </a:p>
        </p:txBody>
      </p:sp>
      <p:sp>
        <p:nvSpPr>
          <p:cNvPr id="137" name="Google Shape;137;p14"/>
          <p:cNvSpPr/>
          <p:nvPr/>
        </p:nvSpPr>
        <p:spPr>
          <a:xfrm>
            <a:off x="777240" y="3602735"/>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14"/>
          <p:cNvSpPr txBox="1"/>
          <p:nvPr/>
        </p:nvSpPr>
        <p:spPr>
          <a:xfrm>
            <a:off x="777240" y="3703320"/>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4</a:t>
            </a:r>
            <a:endParaRPr/>
          </a:p>
        </p:txBody>
      </p:sp>
      <p:sp>
        <p:nvSpPr>
          <p:cNvPr id="139" name="Google Shape;139;p14"/>
          <p:cNvSpPr txBox="1"/>
          <p:nvPr/>
        </p:nvSpPr>
        <p:spPr>
          <a:xfrm>
            <a:off x="1463040" y="3703320"/>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Docker environment configuration</a:t>
            </a:r>
            <a:endParaRPr/>
          </a:p>
        </p:txBody>
      </p:sp>
      <p:sp>
        <p:nvSpPr>
          <p:cNvPr id="140" name="Google Shape;140;p14"/>
          <p:cNvSpPr/>
          <p:nvPr/>
        </p:nvSpPr>
        <p:spPr>
          <a:xfrm>
            <a:off x="777240" y="4178807"/>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14"/>
          <p:cNvSpPr txBox="1"/>
          <p:nvPr/>
        </p:nvSpPr>
        <p:spPr>
          <a:xfrm>
            <a:off x="777240" y="4279392"/>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5</a:t>
            </a:r>
            <a:endParaRPr/>
          </a:p>
        </p:txBody>
      </p:sp>
      <p:sp>
        <p:nvSpPr>
          <p:cNvPr id="142" name="Google Shape;142;p14"/>
          <p:cNvSpPr txBox="1"/>
          <p:nvPr/>
        </p:nvSpPr>
        <p:spPr>
          <a:xfrm>
            <a:off x="1463040" y="4279392"/>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Testing activities: JaCoCo code coverage and PIT mutation testing</a:t>
            </a:r>
            <a:endParaRPr/>
          </a:p>
        </p:txBody>
      </p:sp>
      <p:sp>
        <p:nvSpPr>
          <p:cNvPr id="143" name="Google Shape;143;p14"/>
          <p:cNvSpPr/>
          <p:nvPr/>
        </p:nvSpPr>
        <p:spPr>
          <a:xfrm>
            <a:off x="777240" y="4754879"/>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14"/>
          <p:cNvSpPr txBox="1"/>
          <p:nvPr/>
        </p:nvSpPr>
        <p:spPr>
          <a:xfrm>
            <a:off x="777240" y="4855464"/>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6</a:t>
            </a:r>
            <a:endParaRPr/>
          </a:p>
        </p:txBody>
      </p:sp>
      <p:sp>
        <p:nvSpPr>
          <p:cNvPr id="145" name="Google Shape;145;p14"/>
          <p:cNvSpPr txBox="1"/>
          <p:nvPr/>
        </p:nvSpPr>
        <p:spPr>
          <a:xfrm>
            <a:off x="1463040" y="4855464"/>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Performance testing: JMH and Creedengo static analysis</a:t>
            </a:r>
            <a:endParaRPr/>
          </a:p>
        </p:txBody>
      </p:sp>
      <p:sp>
        <p:nvSpPr>
          <p:cNvPr id="146" name="Google Shape;146;p14"/>
          <p:cNvSpPr/>
          <p:nvPr/>
        </p:nvSpPr>
        <p:spPr>
          <a:xfrm>
            <a:off x="777240" y="5330951"/>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14"/>
          <p:cNvSpPr txBox="1"/>
          <p:nvPr/>
        </p:nvSpPr>
        <p:spPr>
          <a:xfrm>
            <a:off x="777240" y="5431536"/>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7</a:t>
            </a:r>
            <a:endParaRPr/>
          </a:p>
        </p:txBody>
      </p:sp>
      <p:sp>
        <p:nvSpPr>
          <p:cNvPr id="148" name="Google Shape;148;p14"/>
          <p:cNvSpPr txBox="1"/>
          <p:nvPr/>
        </p:nvSpPr>
        <p:spPr>
          <a:xfrm>
            <a:off x="1463040" y="5431536"/>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Security: native GitHub features, SonarQube, GitGuardian, Snyk</a:t>
            </a:r>
            <a:endParaRPr/>
          </a:p>
        </p:txBody>
      </p:sp>
      <p:sp>
        <p:nvSpPr>
          <p:cNvPr id="149" name="Google Shape;149;p14"/>
          <p:cNvSpPr/>
          <p:nvPr/>
        </p:nvSpPr>
        <p:spPr>
          <a:xfrm>
            <a:off x="777240" y="5907023"/>
            <a:ext cx="475500" cy="475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4"/>
          <p:cNvSpPr txBox="1"/>
          <p:nvPr/>
        </p:nvSpPr>
        <p:spPr>
          <a:xfrm>
            <a:off x="777240" y="6007607"/>
            <a:ext cx="475500" cy="32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a:solidFill>
                  <a:srgbClr val="B8860B"/>
                </a:solidFill>
                <a:latin typeface="Calibri"/>
                <a:ea typeface="Calibri"/>
                <a:cs typeface="Calibri"/>
                <a:sym typeface="Calibri"/>
              </a:rPr>
              <a:t>8</a:t>
            </a:r>
            <a:endParaRPr/>
          </a:p>
        </p:txBody>
      </p:sp>
      <p:sp>
        <p:nvSpPr>
          <p:cNvPr id="151" name="Google Shape;151;p14"/>
          <p:cNvSpPr txBox="1"/>
          <p:nvPr/>
        </p:nvSpPr>
        <p:spPr>
          <a:xfrm>
            <a:off x="1463040" y="6007607"/>
            <a:ext cx="99669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6181D"/>
                </a:solidFill>
                <a:latin typeface="Calibri"/>
                <a:ea typeface="Calibri"/>
                <a:cs typeface="Calibri"/>
                <a:sym typeface="Calibri"/>
              </a:rPr>
              <a:t>Final considerations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5"/>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5"/>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5"/>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1</a:t>
            </a:r>
            <a:endParaRPr/>
          </a:p>
        </p:txBody>
      </p:sp>
      <p:sp>
        <p:nvSpPr>
          <p:cNvPr id="159" name="Google Shape;159;p15"/>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The Rated project</a:t>
            </a:r>
            <a:endParaRPr/>
          </a:p>
        </p:txBody>
      </p:sp>
      <p:sp>
        <p:nvSpPr>
          <p:cNvPr id="160" name="Google Shape;160;p15"/>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1 · APPLICATION CONTEXT</a:t>
            </a:r>
            <a:endParaRPr/>
          </a:p>
        </p:txBody>
      </p:sp>
      <p:sp>
        <p:nvSpPr>
          <p:cNvPr id="166" name="Google Shape;166;p16"/>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The Rated project</a:t>
            </a:r>
            <a:endParaRPr/>
          </a:p>
        </p:txBody>
      </p:sp>
      <p:sp>
        <p:nvSpPr>
          <p:cNvPr id="167" name="Google Shape;167;p16"/>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16"/>
          <p:cNvSpPr txBox="1"/>
          <p:nvPr/>
        </p:nvSpPr>
        <p:spPr>
          <a:xfrm>
            <a:off x="777240" y="1783080"/>
            <a:ext cx="10607100" cy="4127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Domain: </a:t>
            </a:r>
            <a:r>
              <a:rPr lang="en-US" sz="1800">
                <a:solidFill>
                  <a:srgbClr val="16181D"/>
                </a:solidFill>
                <a:latin typeface="Calibri"/>
                <a:ea typeface="Calibri"/>
                <a:cs typeface="Calibri"/>
                <a:sym typeface="Calibri"/>
              </a:rPr>
              <a:t>web platform that enables users to rate and review movies and TV series</a:t>
            </a:r>
            <a:endParaRPr sz="1800">
              <a:solidFill>
                <a:schemeClr val="dk1"/>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For users:</a:t>
            </a:r>
            <a:r>
              <a:rPr lang="en-US" sz="1800">
                <a:solidFill>
                  <a:srgbClr val="16181D"/>
                </a:solidFill>
                <a:latin typeface="Calibri"/>
                <a:ea typeface="Calibri"/>
                <a:cs typeface="Calibri"/>
                <a:sym typeface="Calibri"/>
              </a:rPr>
              <a:t> navigate through the catalog (movies and series), explore in detail every title presented in the catalog, see its data sheet, score its overall impression with stars, and compose a written review on it. Furthermore, </a:t>
            </a:r>
            <a:r>
              <a:rPr lang="en-US" sz="1800">
                <a:solidFill>
                  <a:schemeClr val="dk1"/>
                </a:solidFill>
                <a:latin typeface="Calibri"/>
                <a:ea typeface="Calibri"/>
                <a:cs typeface="Calibri"/>
                <a:sym typeface="Calibri"/>
              </a:rPr>
              <a:t>a user is be able to rate, comment, and leave their opinion on other users' reviews, as well as on the reviews' replies. During browsing, users are able to also access the profiles of other users.</a:t>
            </a:r>
            <a:br>
              <a:rPr lang="en-US" sz="1800">
                <a:solidFill>
                  <a:schemeClr val="dk1"/>
                </a:solidFill>
                <a:latin typeface="Calibri"/>
                <a:ea typeface="Calibri"/>
                <a:cs typeface="Calibri"/>
                <a:sym typeface="Calibri"/>
              </a:rPr>
            </a:b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For administrators: </a:t>
            </a:r>
            <a:r>
              <a:rPr lang="en-US" sz="1800">
                <a:solidFill>
                  <a:srgbClr val="16181D"/>
                </a:solidFill>
                <a:latin typeface="Calibri"/>
                <a:ea typeface="Calibri"/>
                <a:cs typeface="Calibri"/>
                <a:sym typeface="Calibri"/>
              </a:rPr>
              <a:t>catalog management (insertion, modification and removal of titles) and moderation of comments alongside user account control.</a:t>
            </a:r>
            <a:br>
              <a:rPr lang="en-US" sz="1700">
                <a:solidFill>
                  <a:schemeClr val="dk1"/>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Three-tier architecture: </a:t>
            </a:r>
            <a:r>
              <a:rPr lang="en-US" sz="1800">
                <a:solidFill>
                  <a:srgbClr val="16181D"/>
                </a:solidFill>
                <a:latin typeface="Calibri"/>
                <a:ea typeface="Calibri"/>
                <a:cs typeface="Calibri"/>
                <a:sym typeface="Calibri"/>
              </a:rPr>
              <a:t>clear separation between presentation layer, application logic and persistence management, guaranteeing maintainability and scalability.</a:t>
            </a:r>
            <a:endParaRPr sz="18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600">
                <a:solidFill>
                  <a:schemeClr val="dk1"/>
                </a:solidFill>
                <a:latin typeface="Calibri"/>
                <a:ea typeface="Calibri"/>
                <a:cs typeface="Calibri"/>
                <a:sym typeface="Calibri"/>
              </a:rPr>
              <a:t>–  Frontend: </a:t>
            </a:r>
            <a:r>
              <a:rPr lang="en-US" sz="1600">
                <a:solidFill>
                  <a:schemeClr val="dk1"/>
                </a:solidFill>
                <a:latin typeface="Calibri"/>
                <a:ea typeface="Calibri"/>
                <a:cs typeface="Calibri"/>
                <a:sym typeface="Calibri"/>
              </a:rPr>
              <a:t>HTML5, CSS3, JavaScript</a:t>
            </a:r>
            <a:endParaRPr/>
          </a:p>
          <a:p>
            <a:pPr indent="0" lvl="0" marL="0" marR="0" rtl="0" algn="l">
              <a:lnSpc>
                <a:spcPct val="106000"/>
              </a:lnSpc>
              <a:spcBef>
                <a:spcPts val="500"/>
              </a:spcBef>
              <a:spcAft>
                <a:spcPts val="0"/>
              </a:spcAft>
              <a:buNone/>
            </a:pPr>
            <a:r>
              <a:rPr b="1" lang="en-US" sz="1600">
                <a:solidFill>
                  <a:schemeClr val="dk1"/>
                </a:solidFill>
                <a:latin typeface="Calibri"/>
                <a:ea typeface="Calibri"/>
                <a:cs typeface="Calibri"/>
                <a:sym typeface="Calibri"/>
              </a:rPr>
              <a:t>–  Backend: </a:t>
            </a:r>
            <a:r>
              <a:rPr lang="en-US" sz="1600">
                <a:solidFill>
                  <a:schemeClr val="dk1"/>
                </a:solidFill>
                <a:latin typeface="Calibri"/>
                <a:ea typeface="Calibri"/>
                <a:cs typeface="Calibri"/>
                <a:sym typeface="Calibri"/>
              </a:rPr>
              <a:t>Java (Servlet and JSP), Tomcat 9</a:t>
            </a:r>
            <a:endParaRPr/>
          </a:p>
          <a:p>
            <a:pPr indent="0" lvl="0" marL="0" marR="0" rtl="0" algn="l">
              <a:lnSpc>
                <a:spcPct val="106000"/>
              </a:lnSpc>
              <a:spcBef>
                <a:spcPts val="500"/>
              </a:spcBef>
              <a:spcAft>
                <a:spcPts val="0"/>
              </a:spcAft>
              <a:buNone/>
            </a:pPr>
            <a:r>
              <a:rPr b="1" lang="en-US" sz="1600">
                <a:solidFill>
                  <a:schemeClr val="dk1"/>
                </a:solidFill>
                <a:latin typeface="Calibri"/>
                <a:ea typeface="Calibri"/>
                <a:cs typeface="Calibri"/>
                <a:sym typeface="Calibri"/>
              </a:rPr>
              <a:t>–  Database: </a:t>
            </a:r>
            <a:r>
              <a:rPr lang="en-US" sz="1600">
                <a:solidFill>
                  <a:schemeClr val="dk1"/>
                </a:solidFill>
                <a:latin typeface="Calibri"/>
                <a:ea typeface="Calibri"/>
                <a:cs typeface="Calibri"/>
                <a:sym typeface="Calibri"/>
              </a:rPr>
              <a:t>MySQL, accessed through JDBC and a JNDI DataSource</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1 · SUMMARY</a:t>
            </a:r>
            <a:endParaRPr/>
          </a:p>
        </p:txBody>
      </p:sp>
      <p:sp>
        <p:nvSpPr>
          <p:cNvPr id="174" name="Google Shape;174;p17"/>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Evaluation criteria and </a:t>
            </a:r>
            <a:r>
              <a:rPr b="1" lang="en-US" sz="3000">
                <a:solidFill>
                  <a:srgbClr val="16181D"/>
                </a:solidFill>
                <a:latin typeface="Calibri"/>
                <a:ea typeface="Calibri"/>
                <a:cs typeface="Calibri"/>
                <a:sym typeface="Calibri"/>
              </a:rPr>
              <a:t>R</a:t>
            </a:r>
            <a:r>
              <a:rPr b="1" i="0" lang="en-US" sz="3000">
                <a:solidFill>
                  <a:srgbClr val="16181D"/>
                </a:solidFill>
                <a:latin typeface="Calibri"/>
                <a:ea typeface="Calibri"/>
                <a:cs typeface="Calibri"/>
                <a:sym typeface="Calibri"/>
              </a:rPr>
              <a:t>esults</a:t>
            </a:r>
            <a:endParaRPr b="1" i="0" sz="3000">
              <a:solidFill>
                <a:srgbClr val="16181D"/>
              </a:solidFill>
              <a:latin typeface="Calibri"/>
              <a:ea typeface="Calibri"/>
              <a:cs typeface="Calibri"/>
              <a:sym typeface="Calibri"/>
            </a:endParaRPr>
          </a:p>
        </p:txBody>
      </p:sp>
      <p:sp>
        <p:nvSpPr>
          <p:cNvPr id="175" name="Google Shape;175;p17"/>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176" name="Google Shape;176;p17"/>
          <p:cNvGraphicFramePr/>
          <p:nvPr/>
        </p:nvGraphicFramePr>
        <p:xfrm>
          <a:off x="777240" y="1783080"/>
          <a:ext cx="3000000" cy="3000000"/>
        </p:xfrm>
        <a:graphic>
          <a:graphicData uri="http://schemas.openxmlformats.org/drawingml/2006/table">
            <a:tbl>
              <a:tblPr bandRow="1" firstRow="1">
                <a:noFill/>
                <a:tableStyleId>{3E246B3B-8ED0-44C9-944B-42B370E33661}</a:tableStyleId>
              </a:tblPr>
              <a:tblGrid>
                <a:gridCol w="5486400"/>
                <a:gridCol w="5120650"/>
              </a:tblGrid>
              <a:tr h="382375">
                <a:tc>
                  <a:txBody>
                    <a:bodyPr/>
                    <a:lstStyle/>
                    <a:p>
                      <a:pPr indent="0" lvl="0" marL="0" marR="0" rtl="0" algn="l">
                        <a:lnSpc>
                          <a:spcPct val="95000"/>
                        </a:lnSpc>
                        <a:spcBef>
                          <a:spcPts val="0"/>
                        </a:spcBef>
                        <a:spcAft>
                          <a:spcPts val="0"/>
                        </a:spcAft>
                        <a:buNone/>
                      </a:pPr>
                      <a:r>
                        <a:rPr b="1" lang="en-US" sz="1300" u="none" cap="none" strike="noStrike">
                          <a:solidFill>
                            <a:srgbClr val="FFFFFF"/>
                          </a:solidFill>
                          <a:latin typeface="Calibri"/>
                          <a:ea typeface="Calibri"/>
                          <a:cs typeface="Calibri"/>
                          <a:sym typeface="Calibri"/>
                        </a:rPr>
                        <a:t>Criterion</a:t>
                      </a:r>
                      <a:endParaRPr/>
                    </a:p>
                  </a:txBody>
                  <a:tcPr marT="45725" marB="45725" marR="91450" marL="128025" anchor="ctr">
                    <a:solidFill>
                      <a:srgbClr val="16181D"/>
                    </a:solidFill>
                  </a:tcPr>
                </a:tc>
                <a:tc>
                  <a:txBody>
                    <a:bodyPr/>
                    <a:lstStyle/>
                    <a:p>
                      <a:pPr indent="0" lvl="0" marL="0" marR="0" rtl="0" algn="l">
                        <a:lnSpc>
                          <a:spcPct val="95000"/>
                        </a:lnSpc>
                        <a:spcBef>
                          <a:spcPts val="0"/>
                        </a:spcBef>
                        <a:spcAft>
                          <a:spcPts val="0"/>
                        </a:spcAft>
                        <a:buNone/>
                      </a:pPr>
                      <a:r>
                        <a:rPr b="1" lang="en-US" sz="1300" u="none" cap="none" strike="noStrike">
                          <a:solidFill>
                            <a:srgbClr val="FFFFFF"/>
                          </a:solidFill>
                          <a:latin typeface="Calibri"/>
                          <a:ea typeface="Calibri"/>
                          <a:cs typeface="Calibri"/>
                          <a:sym typeface="Calibri"/>
                        </a:rPr>
                        <a:t>Result</a:t>
                      </a:r>
                      <a:endParaRPr/>
                    </a:p>
                  </a:txBody>
                  <a:tcPr marT="45725" marB="45725" marR="91450" marL="128025" anchor="ctr">
                    <a:solidFill>
                      <a:srgbClr val="16181D"/>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Application buildable in CI/CD and locally</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Ci.yml and continous delivery on every push/PR </a:t>
                      </a:r>
                      <a:endParaRPr/>
                    </a:p>
                  </a:txBody>
                  <a:tcPr marT="45725" marB="45725" marR="91450" marL="128025" anchor="ctr">
                    <a:solidFill>
                      <a:srgbClr val="FFFFFF"/>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Formal JML specification verified with OpenJML</a:t>
                      </a:r>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27 annotated files and formal verification successful</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Docker image ready to be orchestrated</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Clr>
                          <a:srgbClr val="16181D"/>
                        </a:buClr>
                        <a:buSzPts val="1500"/>
                        <a:buFont typeface="Calibri"/>
                        <a:buNone/>
                      </a:pPr>
                      <a:r>
                        <a:rPr b="0" lang="en-US" sz="1500" u="none" cap="none" strike="noStrike">
                          <a:solidFill>
                            <a:srgbClr val="16181D"/>
                          </a:solidFill>
                          <a:latin typeface="Calibri"/>
                          <a:ea typeface="Calibri"/>
                          <a:cs typeface="Calibri"/>
                          <a:sym typeface="Calibri"/>
                        </a:rPr>
                        <a:t>docker-push.yml and dockerization for both amd64 and arm64</a:t>
                      </a:r>
                      <a:endParaRPr sz="1500" u="none" cap="none" strike="noStrike"/>
                    </a:p>
                  </a:txBody>
                  <a:tcPr marT="45725" marB="45725" marR="91450" marL="128025" anchor="ctr">
                    <a:solidFill>
                      <a:srgbClr val="FFFFFF"/>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Significant number of test cases</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361 tests in 94 classes (unit and integration)</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Code coverage analyzed with JaCoCo</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96% instructions and 93% branches (from 58% / 41%)</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Mutation testing campaign with PIT</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98% mutation coverage · 98% test strength</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JMH microbenchmarks on demanding components</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7 service suites · up to −22.7% ns/op</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Security mechanisms implemented in CI/CD</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GitGuardian, Snyk, SonarQube, Dependabot</a:t>
                      </a:r>
                      <a:endParaRPr/>
                    </a:p>
                  </a:txBody>
                  <a:tcPr marT="45725" marB="45725" marR="91450" marL="128025" anchor="ctr">
                    <a:solidFill>
                      <a:srgbClr val="F3F4F6"/>
                    </a:solidFill>
                  </a:tcPr>
                </a:tc>
              </a:tr>
              <a:tr h="382375">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Security analyzed with the three tools</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97 → 0 issues; remaining findings = false positives</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FFFFF"/>
                    </a:solidFill>
                  </a:tcPr>
                </a:tc>
              </a:tr>
              <a:tr h="382400">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No vulnerabilities in the web application</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500" u="none" cap="none" strike="noStrike">
                          <a:solidFill>
                            <a:srgbClr val="16181D"/>
                          </a:solidFill>
                          <a:latin typeface="Calibri"/>
                          <a:ea typeface="Calibri"/>
                          <a:cs typeface="Calibri"/>
                          <a:sym typeface="Calibri"/>
                        </a:rPr>
                        <a:t>Security Rating A · 0 security issues</a:t>
                      </a:r>
                      <a:endParaRPr b="0" sz="1500" u="none" cap="none" strike="noStrike">
                        <a:solidFill>
                          <a:srgbClr val="16181D"/>
                        </a:solidFill>
                        <a:latin typeface="Calibri"/>
                        <a:ea typeface="Calibri"/>
                        <a:cs typeface="Calibri"/>
                        <a:sym typeface="Calibri"/>
                      </a:endParaRPr>
                    </a:p>
                  </a:txBody>
                  <a:tcPr marT="45725" marB="45725" marR="91450" marL="128025" anchor="ctr">
                    <a:solidFill>
                      <a:srgbClr val="F3F4F6"/>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18"/>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18"/>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2</a:t>
            </a:r>
            <a:endParaRPr/>
          </a:p>
        </p:txBody>
      </p:sp>
      <p:sp>
        <p:nvSpPr>
          <p:cNvPr id="184" name="Google Shape;184;p18"/>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GitHub workflows</a:t>
            </a:r>
            <a:endParaRPr/>
          </a:p>
        </p:txBody>
      </p:sp>
      <p:sp>
        <p:nvSpPr>
          <p:cNvPr id="185" name="Google Shape;185;p18"/>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2 · GITHUB WORKFLOWS</a:t>
            </a:r>
            <a:endParaRPr/>
          </a:p>
        </p:txBody>
      </p:sp>
      <p:sp>
        <p:nvSpPr>
          <p:cNvPr id="191" name="Google Shape;191;p19"/>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6181D"/>
                </a:solidFill>
                <a:latin typeface="Calibri"/>
                <a:ea typeface="Calibri"/>
                <a:cs typeface="Calibri"/>
                <a:sym typeface="Calibri"/>
              </a:rPr>
              <a:t>Continuous Integration</a:t>
            </a:r>
            <a:r>
              <a:rPr b="1" lang="en-US" sz="3000">
                <a:solidFill>
                  <a:srgbClr val="16181D"/>
                </a:solidFill>
                <a:latin typeface="Calibri"/>
                <a:ea typeface="Calibri"/>
                <a:cs typeface="Calibri"/>
                <a:sym typeface="Calibri"/>
              </a:rPr>
              <a:t> - ci.yml</a:t>
            </a:r>
            <a:endParaRPr sz="1800">
              <a:solidFill>
                <a:schemeClr val="dk1"/>
              </a:solidFill>
              <a:latin typeface="Calibri"/>
              <a:ea typeface="Calibri"/>
              <a:cs typeface="Calibri"/>
              <a:sym typeface="Calibri"/>
            </a:endParaRPr>
          </a:p>
        </p:txBody>
      </p:sp>
      <p:sp>
        <p:nvSpPr>
          <p:cNvPr id="192" name="Google Shape;192;p19"/>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9"/>
          <p:cNvSpPr txBox="1"/>
          <p:nvPr/>
        </p:nvSpPr>
        <p:spPr>
          <a:xfrm>
            <a:off x="777240" y="1737360"/>
            <a:ext cx="10607100" cy="47136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Trigger: </a:t>
            </a:r>
            <a:r>
              <a:rPr lang="en-US" sz="1800">
                <a:solidFill>
                  <a:srgbClr val="16181D"/>
                </a:solidFill>
                <a:latin typeface="Calibri"/>
                <a:ea typeface="Calibri"/>
                <a:cs typeface="Calibri"/>
                <a:sym typeface="Calibri"/>
              </a:rPr>
              <a:t>every push and every pull request on the main branch.</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Checkout and setup: </a:t>
            </a:r>
            <a:r>
              <a:rPr lang="en-US" sz="1800">
                <a:solidFill>
                  <a:srgbClr val="16181D"/>
                </a:solidFill>
                <a:latin typeface="Calibri"/>
                <a:ea typeface="Calibri"/>
                <a:cs typeface="Calibri"/>
                <a:sym typeface="Calibri"/>
              </a:rPr>
              <a:t>the repository is checked out and the correct JDK 17 is installed</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Build and test</a:t>
            </a:r>
            <a:r>
              <a:rPr lang="en-US" sz="1800">
                <a:solidFill>
                  <a:srgbClr val="16181D"/>
                </a:solidFill>
                <a:latin typeface="Calibri"/>
                <a:ea typeface="Calibri"/>
                <a:cs typeface="Calibri"/>
                <a:sym typeface="Calibri"/>
              </a:rPr>
              <a:t>: the </a:t>
            </a:r>
            <a:r>
              <a:rPr b="1" i="1" lang="en-US" sz="1800">
                <a:solidFill>
                  <a:srgbClr val="000000"/>
                </a:solidFill>
                <a:latin typeface="Calibri"/>
                <a:ea typeface="Calibri"/>
                <a:cs typeface="Calibri"/>
                <a:sym typeface="Calibri"/>
              </a:rPr>
              <a:t>mvn verify</a:t>
            </a:r>
            <a:r>
              <a:rPr lang="en-US" sz="1800">
                <a:solidFill>
                  <a:srgbClr val="16181D"/>
                </a:solidFill>
                <a:latin typeface="Calibri"/>
                <a:ea typeface="Calibri"/>
                <a:cs typeface="Calibri"/>
                <a:sym typeface="Calibri"/>
              </a:rPr>
              <a:t> stage performs a full build of the project, executes all the tests, and generates the code coverage report with JaCoCo.</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Mutation testing: </a:t>
            </a:r>
            <a:r>
              <a:rPr lang="en-US" sz="1800">
                <a:solidFill>
                  <a:srgbClr val="16181D"/>
                </a:solidFill>
                <a:latin typeface="Calibri"/>
                <a:ea typeface="Calibri"/>
                <a:cs typeface="Calibri"/>
                <a:sym typeface="Calibri"/>
              </a:rPr>
              <a:t>PIT evaluates the ability of the current test suite to detect defects in the project's code.</a:t>
            </a:r>
            <a:endParaRPr sz="18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Upload of the reports: </a:t>
            </a:r>
            <a:r>
              <a:rPr lang="en-US" sz="1800">
                <a:solidFill>
                  <a:srgbClr val="16181D"/>
                </a:solidFill>
                <a:latin typeface="Calibri"/>
                <a:ea typeface="Calibri"/>
                <a:cs typeface="Calibri"/>
                <a:sym typeface="Calibri"/>
              </a:rPr>
              <a:t>the JaCoCo coverage report and the PIT mutation testing report are published as artifacts.</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Secret scanning</a:t>
            </a:r>
            <a:r>
              <a:rPr lang="en-US" sz="1800">
                <a:solidFill>
                  <a:srgbClr val="16181D"/>
                </a:solidFill>
                <a:latin typeface="Calibri"/>
                <a:ea typeface="Calibri"/>
                <a:cs typeface="Calibri"/>
                <a:sym typeface="Calibri"/>
              </a:rPr>
              <a:t>: GitGuardian scans the code for secrets, API keys, tokens, and credentials.</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Dependency analysis</a:t>
            </a:r>
            <a:r>
              <a:rPr lang="en-US" sz="1800">
                <a:solidFill>
                  <a:srgbClr val="16181D"/>
                </a:solidFill>
                <a:latin typeface="Calibri"/>
                <a:ea typeface="Calibri"/>
                <a:cs typeface="Calibri"/>
                <a:sym typeface="Calibri"/>
              </a:rPr>
              <a:t>: Snyk performs SCA on the Maven dependencies on the main branch with a fairly strict severity threshold, and Snyk SAST scans the code</a:t>
            </a:r>
            <a:endParaRPr sz="18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Static analysis: </a:t>
            </a:r>
            <a:r>
              <a:rPr lang="en-US" sz="1800">
                <a:solidFill>
                  <a:srgbClr val="16181D"/>
                </a:solidFill>
                <a:latin typeface="Calibri"/>
                <a:ea typeface="Calibri"/>
                <a:cs typeface="Calibri"/>
                <a:sym typeface="Calibri"/>
              </a:rPr>
              <a:t>SonarQube analyzes the code base and pushes the analysis to SonarCloud, in order to detect bugs, vulnerabilities, code smells, etc.</a:t>
            </a:r>
            <a:endParaRPr sz="18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Containerization</a:t>
            </a:r>
            <a:r>
              <a:rPr lang="en-US" sz="1800">
                <a:solidFill>
                  <a:srgbClr val="16181D"/>
                </a:solidFill>
                <a:latin typeface="Calibri"/>
                <a:ea typeface="Calibri"/>
                <a:cs typeface="Calibri"/>
                <a:sym typeface="Calibri"/>
              </a:rPr>
              <a:t>: the Docker image is built and tagged with the current commit hash, for full traceability of the artifact.</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20"/>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2 · GITHUB WORKFLOWS</a:t>
            </a:r>
            <a:endParaRPr/>
          </a:p>
        </p:txBody>
      </p:sp>
      <p:sp>
        <p:nvSpPr>
          <p:cNvPr id="199" name="Google Shape;199;p20"/>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Continuous Integration — ci.yml</a:t>
            </a:r>
            <a:endParaRPr/>
          </a:p>
        </p:txBody>
      </p:sp>
      <p:sp>
        <p:nvSpPr>
          <p:cNvPr id="200" name="Google Shape;200;p20"/>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20"/>
          <p:cNvSpPr txBox="1"/>
          <p:nvPr/>
        </p:nvSpPr>
        <p:spPr>
          <a:xfrm>
            <a:off x="777240" y="1737360"/>
            <a:ext cx="10607100" cy="42564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Trigger: </a:t>
            </a:r>
            <a:r>
              <a:rPr lang="en-US" sz="1600">
                <a:solidFill>
                  <a:srgbClr val="16181D"/>
                </a:solidFill>
                <a:latin typeface="Calibri"/>
                <a:ea typeface="Calibri"/>
                <a:cs typeface="Calibri"/>
                <a:sym typeface="Calibri"/>
              </a:rPr>
              <a:t>every push and every pull request on the main branch.</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Checkout and setup: </a:t>
            </a:r>
            <a:r>
              <a:rPr lang="en-US" sz="1600">
                <a:solidFill>
                  <a:srgbClr val="16181D"/>
                </a:solidFill>
                <a:latin typeface="Calibri"/>
                <a:ea typeface="Calibri"/>
                <a:cs typeface="Calibri"/>
                <a:sym typeface="Calibri"/>
              </a:rPr>
              <a:t>actions/checkout, JDK 17 via actions/setup-java with Maven caching to reuse pre-downloaded dependencies.</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Build and test — mvn verify: </a:t>
            </a:r>
            <a:r>
              <a:rPr lang="en-US" sz="1600">
                <a:solidFill>
                  <a:srgbClr val="16181D"/>
                </a:solidFill>
                <a:latin typeface="Calibri"/>
                <a:ea typeface="Calibri"/>
                <a:cs typeface="Calibri"/>
                <a:sym typeface="Calibri"/>
              </a:rPr>
              <a:t>full build cycle of the application module, JUnit test execution and generation of JaCoCo coverage reports.</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Mutation testing with PIT: </a:t>
            </a:r>
            <a:r>
              <a:rPr lang="en-US" sz="1600">
                <a:solidFill>
                  <a:srgbClr val="16181D"/>
                </a:solidFill>
                <a:latin typeface="Calibri"/>
                <a:ea typeface="Calibri"/>
                <a:cs typeface="Calibri"/>
                <a:sym typeface="Calibri"/>
              </a:rPr>
              <a:t>evaluates how effectively the test suite detects artificial defects — a far more robust measure of suite quality than coverage alone.</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Upload reports: </a:t>
            </a:r>
            <a:r>
              <a:rPr lang="en-US" sz="1600">
                <a:solidFill>
                  <a:srgbClr val="16181D"/>
                </a:solidFill>
                <a:latin typeface="Calibri"/>
                <a:ea typeface="Calibri"/>
                <a:cs typeface="Calibri"/>
                <a:sym typeface="Calibri"/>
              </a:rPr>
              <a:t>JaCoCo and PIT reports published as artifacts with actions/upload-artifact for offline review.</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GitGuardian (ggshield): </a:t>
            </a:r>
            <a:r>
              <a:rPr lang="en-US" sz="1600">
                <a:solidFill>
                  <a:srgbClr val="16181D"/>
                </a:solidFill>
                <a:latin typeface="Calibri"/>
                <a:ea typeface="Calibri"/>
                <a:cs typeface="Calibri"/>
                <a:sym typeface="Calibri"/>
              </a:rPr>
              <a:t>repository scan for leaked secrets, API keys, tokens and credentials.</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Snyk: </a:t>
            </a:r>
            <a:r>
              <a:rPr lang="en-US" sz="1600">
                <a:solidFill>
                  <a:srgbClr val="16181D"/>
                </a:solidFill>
                <a:latin typeface="Calibri"/>
                <a:ea typeface="Calibri"/>
                <a:cs typeface="Calibri"/>
                <a:sym typeface="Calibri"/>
              </a:rPr>
              <a:t>Open Source (SCA) on Maven dependencies with a strict minimum severity threshold, Monitor on the main branch only, Snyk Code (SAST) honouring the .snyk exclusions.</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SonarQube analysis: </a:t>
            </a:r>
            <a:r>
              <a:rPr lang="en-US" sz="1600">
                <a:solidFill>
                  <a:srgbClr val="16181D"/>
                </a:solidFill>
                <a:latin typeface="Calibri"/>
                <a:ea typeface="Calibri"/>
                <a:cs typeface="Calibri"/>
                <a:sym typeface="Calibri"/>
              </a:rPr>
              <a:t>deep-dive analysis published to SonarCloud — code smells, bugs and vulnerabilities on the quality dashboard.</a:t>
            </a:r>
            <a:endParaRPr/>
          </a:p>
          <a:p>
            <a:pPr indent="0" lvl="0" marL="0" marR="0" rtl="0" algn="l">
              <a:lnSpc>
                <a:spcPct val="106000"/>
              </a:lnSpc>
              <a:spcBef>
                <a:spcPts val="6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Docker image build: </a:t>
            </a:r>
            <a:r>
              <a:rPr lang="en-US" sz="1600">
                <a:solidFill>
                  <a:srgbClr val="16181D"/>
                </a:solidFill>
                <a:latin typeface="Calibri"/>
                <a:ea typeface="Calibri"/>
                <a:cs typeface="Calibri"/>
                <a:sym typeface="Calibri"/>
              </a:rPr>
              <a:t>tagged with the commit hash, ensuring complete build traceability and reproducibility.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2 · GITHUB WORKFLOWS</a:t>
            </a:r>
            <a:endParaRPr/>
          </a:p>
        </p:txBody>
      </p:sp>
      <p:sp>
        <p:nvSpPr>
          <p:cNvPr id="207" name="Google Shape;207;p21"/>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Continuous Delivery </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docker-push.yml</a:t>
            </a:r>
            <a:endParaRPr b="1" i="0" sz="3000">
              <a:solidFill>
                <a:srgbClr val="16181D"/>
              </a:solidFill>
              <a:latin typeface="Calibri"/>
              <a:ea typeface="Calibri"/>
              <a:cs typeface="Calibri"/>
              <a:sym typeface="Calibri"/>
            </a:endParaRPr>
          </a:p>
        </p:txBody>
      </p:sp>
      <p:sp>
        <p:nvSpPr>
          <p:cNvPr id="208" name="Google Shape;208;p21"/>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21"/>
          <p:cNvSpPr txBox="1"/>
          <p:nvPr/>
        </p:nvSpPr>
        <p:spPr>
          <a:xfrm>
            <a:off x="777240" y="1828800"/>
            <a:ext cx="10607100" cy="34509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Trigger: </a:t>
            </a:r>
            <a:r>
              <a:rPr lang="en-US" sz="1800">
                <a:solidFill>
                  <a:srgbClr val="16181D"/>
                </a:solidFill>
                <a:latin typeface="Calibri"/>
                <a:ea typeface="Calibri"/>
                <a:cs typeface="Calibri"/>
                <a:sym typeface="Calibri"/>
              </a:rPr>
              <a:t>a push to the main branch (or eventually manual execution)</a:t>
            </a:r>
            <a:endParaRPr sz="1800">
              <a:solidFill>
                <a:srgbClr val="16181D"/>
              </a:solidFill>
              <a:latin typeface="Calibri"/>
              <a:ea typeface="Calibri"/>
              <a:cs typeface="Calibri"/>
              <a:sym typeface="Calibri"/>
            </a:endParaRPr>
          </a:p>
          <a:p>
            <a:pPr indent="-171450" lvl="0" marL="285750" marR="0" rtl="0" algn="l">
              <a:lnSpc>
                <a:spcPct val="106000"/>
              </a:lnSpc>
              <a:spcBef>
                <a:spcPts val="800"/>
              </a:spcBef>
              <a:spcAft>
                <a:spcPts val="0"/>
              </a:spcAft>
              <a:buClr>
                <a:schemeClr val="dk1"/>
              </a:buClr>
              <a:buSzPts val="1800"/>
              <a:buFont typeface="Arial"/>
              <a:buNone/>
            </a:pPr>
            <a:r>
              <a:t/>
            </a:r>
            <a:endParaRPr sz="18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Checkout and JDK 17: </a:t>
            </a:r>
            <a:r>
              <a:rPr lang="en-US" sz="1800">
                <a:solidFill>
                  <a:srgbClr val="16181D"/>
                </a:solidFill>
                <a:latin typeface="Calibri"/>
                <a:ea typeface="Calibri"/>
                <a:cs typeface="Calibri"/>
                <a:sym typeface="Calibri"/>
              </a:rPr>
              <a:t>the Java environment setup of the CI workflow is replicated.</a:t>
            </a:r>
            <a:endParaRPr sz="1800">
              <a:solidFill>
                <a:srgbClr val="16181D"/>
              </a:solidFill>
              <a:latin typeface="Calibri"/>
              <a:ea typeface="Calibri"/>
              <a:cs typeface="Calibri"/>
              <a:sym typeface="Calibri"/>
            </a:endParaRPr>
          </a:p>
          <a:p>
            <a:pPr indent="-171450" lvl="0" marL="285750" marR="0" rtl="0" algn="l">
              <a:lnSpc>
                <a:spcPct val="106000"/>
              </a:lnSpc>
              <a:spcBef>
                <a:spcPts val="800"/>
              </a:spcBef>
              <a:spcAft>
                <a:spcPts val="0"/>
              </a:spcAft>
              <a:buClr>
                <a:schemeClr val="dk1"/>
              </a:buClr>
              <a:buSzPts val="1800"/>
              <a:buFont typeface="Arial"/>
              <a:buNone/>
            </a:pPr>
            <a:r>
              <a:t/>
            </a:r>
            <a:endParaRPr sz="18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Builder setup:</a:t>
            </a:r>
            <a:r>
              <a:rPr lang="en-US" sz="1800">
                <a:solidFill>
                  <a:srgbClr val="16181D"/>
                </a:solidFill>
                <a:latin typeface="Calibri"/>
                <a:ea typeface="Calibri"/>
                <a:cs typeface="Calibri"/>
                <a:sym typeface="Calibri"/>
              </a:rPr>
              <a:t> a Docker Buildx multi-architecture builder is initialized.</a:t>
            </a:r>
            <a:endParaRPr sz="1800">
              <a:solidFill>
                <a:schemeClr val="dk1"/>
              </a:solidFill>
              <a:latin typeface="Calibri"/>
              <a:ea typeface="Calibri"/>
              <a:cs typeface="Calibri"/>
              <a:sym typeface="Calibri"/>
            </a:endParaRPr>
          </a:p>
          <a:p>
            <a:pPr indent="-171450" lvl="0" marL="285750" marR="0" rtl="0" algn="l">
              <a:lnSpc>
                <a:spcPct val="106000"/>
              </a:lnSpc>
              <a:spcBef>
                <a:spcPts val="800"/>
              </a:spcBef>
              <a:spcAft>
                <a:spcPts val="0"/>
              </a:spcAft>
              <a:buClr>
                <a:schemeClr val="dk1"/>
              </a:buClr>
              <a:buSzPts val="1800"/>
              <a:buFont typeface="Arial"/>
              <a:buNone/>
            </a:pPr>
            <a:r>
              <a:t/>
            </a:r>
            <a:endParaRPr sz="18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Authentication: </a:t>
            </a:r>
            <a:r>
              <a:rPr lang="en-US" sz="1800">
                <a:solidFill>
                  <a:srgbClr val="16181D"/>
                </a:solidFill>
                <a:latin typeface="Calibri"/>
                <a:ea typeface="Calibri"/>
                <a:cs typeface="Calibri"/>
                <a:sym typeface="Calibri"/>
              </a:rPr>
              <a:t>the workflow authenticates to Docker Hub using the corresponding GitHub Secrets.</a:t>
            </a:r>
            <a:endParaRPr sz="1800">
              <a:solidFill>
                <a:schemeClr val="dk1"/>
              </a:solidFill>
              <a:latin typeface="Calibri"/>
              <a:ea typeface="Calibri"/>
              <a:cs typeface="Calibri"/>
              <a:sym typeface="Calibri"/>
            </a:endParaRPr>
          </a:p>
          <a:p>
            <a:pPr indent="-171450" lvl="0" marL="285750" marR="0" rtl="0" algn="l">
              <a:lnSpc>
                <a:spcPct val="106000"/>
              </a:lnSpc>
              <a:spcBef>
                <a:spcPts val="800"/>
              </a:spcBef>
              <a:spcAft>
                <a:spcPts val="0"/>
              </a:spcAft>
              <a:buClr>
                <a:schemeClr val="dk1"/>
              </a:buClr>
              <a:buSzPts val="1800"/>
              <a:buFont typeface="Arial"/>
              <a:buNone/>
            </a:pPr>
            <a:r>
              <a:t/>
            </a:r>
            <a:endParaRPr sz="18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Build and push: </a:t>
            </a:r>
            <a:r>
              <a:rPr lang="en-US" sz="1800">
                <a:solidFill>
                  <a:srgbClr val="16181D"/>
                </a:solidFill>
                <a:latin typeface="Calibri"/>
                <a:ea typeface="Calibri"/>
                <a:cs typeface="Calibri"/>
                <a:sym typeface="Calibri"/>
              </a:rPr>
              <a:t>the multi-architecture image is built for both linux amd64 and arm64.</a:t>
            </a:r>
            <a:endParaRPr sz="1800">
              <a:solidFill>
                <a:srgbClr val="16181D"/>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3" name="Shape 213"/>
        <p:cNvGrpSpPr/>
        <p:nvPr/>
      </p:nvGrpSpPr>
      <p:grpSpPr>
        <a:xfrm>
          <a:off x="0" y="0"/>
          <a:ext cx="0" cy="0"/>
          <a:chOff x="0" y="0"/>
          <a:chExt cx="0" cy="0"/>
        </a:xfrm>
      </p:grpSpPr>
      <p:sp>
        <p:nvSpPr>
          <p:cNvPr id="214" name="Google Shape;214;p22"/>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2 · GITHUB WORKFLOWS</a:t>
            </a:r>
            <a:endParaRPr/>
          </a:p>
        </p:txBody>
      </p:sp>
      <p:sp>
        <p:nvSpPr>
          <p:cNvPr id="215" name="Google Shape;215;p22"/>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Continuous Delivery — docker-push.yml</a:t>
            </a:r>
            <a:endParaRPr b="1" i="0" sz="3000">
              <a:solidFill>
                <a:srgbClr val="16181D"/>
              </a:solidFill>
              <a:latin typeface="Calibri"/>
              <a:ea typeface="Calibri"/>
              <a:cs typeface="Calibri"/>
              <a:sym typeface="Calibri"/>
            </a:endParaRPr>
          </a:p>
        </p:txBody>
      </p:sp>
      <p:sp>
        <p:nvSpPr>
          <p:cNvPr id="216" name="Google Shape;216;p22"/>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17" name="Google Shape;217;p22"/>
          <p:cNvSpPr txBox="1"/>
          <p:nvPr/>
        </p:nvSpPr>
        <p:spPr>
          <a:xfrm>
            <a:off x="777240" y="1828800"/>
            <a:ext cx="10607100" cy="43836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Trigger: </a:t>
            </a:r>
            <a:r>
              <a:rPr lang="en-US" sz="1700">
                <a:solidFill>
                  <a:srgbClr val="16181D"/>
                </a:solidFill>
                <a:latin typeface="Calibri"/>
                <a:ea typeface="Calibri"/>
                <a:cs typeface="Calibri"/>
                <a:sym typeface="Calibri"/>
              </a:rPr>
              <a:t>every push to main, or manual execution through workflow_dispatch.</a:t>
            </a:r>
            <a:br>
              <a:rPr lang="en-US" sz="1700">
                <a:solidFill>
                  <a:srgbClr val="16181D"/>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Checkout and JDK 17: </a:t>
            </a:r>
            <a:r>
              <a:rPr lang="en-US" sz="1700">
                <a:solidFill>
                  <a:srgbClr val="16181D"/>
                </a:solidFill>
                <a:latin typeface="Calibri"/>
                <a:ea typeface="Calibri"/>
                <a:cs typeface="Calibri"/>
                <a:sym typeface="Calibri"/>
              </a:rPr>
              <a:t>the Java environment setup of the CI workflow is replicated.</a:t>
            </a:r>
            <a:br>
              <a:rPr lang="en-US" sz="1700">
                <a:solidFill>
                  <a:srgbClr val="16181D"/>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Application build: </a:t>
            </a:r>
            <a:r>
              <a:rPr lang="en-US" sz="1700">
                <a:solidFill>
                  <a:srgbClr val="16181D"/>
                </a:solidFill>
                <a:latin typeface="Calibri"/>
                <a:ea typeface="Calibri"/>
                <a:cs typeface="Calibri"/>
                <a:sym typeface="Calibri"/>
              </a:rPr>
              <a:t>mvn clean package -DskipTests — tests are bypassed here because they are already validated by the CI pipeline, the gate for reaching main.</a:t>
            </a:r>
            <a:br>
              <a:rPr lang="en-US" sz="1700">
                <a:solidFill>
                  <a:srgbClr val="16181D"/>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Docker Buildx: </a:t>
            </a:r>
            <a:r>
              <a:rPr lang="en-US" sz="1700">
                <a:solidFill>
                  <a:srgbClr val="16181D"/>
                </a:solidFill>
                <a:latin typeface="Calibri"/>
                <a:ea typeface="Calibri"/>
                <a:cs typeface="Calibri"/>
                <a:sym typeface="Calibri"/>
              </a:rPr>
              <a:t>multi-architecture builder initialized with docker/setup-buildx-action.</a:t>
            </a:r>
            <a:br>
              <a:rPr lang="en-US" sz="1700">
                <a:solidFill>
                  <a:srgbClr val="16181D"/>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Authentication: </a:t>
            </a:r>
            <a:r>
              <a:rPr lang="en-US" sz="1700">
                <a:solidFill>
                  <a:srgbClr val="16181D"/>
                </a:solidFill>
                <a:latin typeface="Calibri"/>
                <a:ea typeface="Calibri"/>
                <a:cs typeface="Calibri"/>
                <a:sym typeface="Calibri"/>
              </a:rPr>
              <a:t>docker/login-action with credentials stored in GitHub Secrets, keeping a secure separation between codebase and sensitive credentials.</a:t>
            </a:r>
            <a:br>
              <a:rPr lang="en-US" sz="1700">
                <a:solidFill>
                  <a:srgbClr val="16181D"/>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Build and push: </a:t>
            </a:r>
            <a:r>
              <a:rPr lang="en-US" sz="1700">
                <a:solidFill>
                  <a:srgbClr val="16181D"/>
                </a:solidFill>
                <a:latin typeface="Calibri"/>
                <a:ea typeface="Calibri"/>
                <a:cs typeface="Calibri"/>
                <a:sym typeface="Calibri"/>
              </a:rPr>
              <a:t>image built for linux/amd64 and linux/arm64 and published to Docker Hub with the latest tag; cache-from and cache-to optimize execution times.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3"/>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23"/>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23"/>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3</a:t>
            </a:r>
            <a:endParaRPr/>
          </a:p>
        </p:txBody>
      </p:sp>
      <p:sp>
        <p:nvSpPr>
          <p:cNvPr id="225" name="Google Shape;225;p23"/>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Formal verification with OpenJML</a:t>
            </a:r>
            <a:endParaRPr/>
          </a:p>
        </p:txBody>
      </p:sp>
      <p:sp>
        <p:nvSpPr>
          <p:cNvPr id="226" name="Google Shape;226;p23"/>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3 · FORMAL VERIFICATION</a:t>
            </a:r>
            <a:endParaRPr/>
          </a:p>
        </p:txBody>
      </p:sp>
      <p:sp>
        <p:nvSpPr>
          <p:cNvPr id="232" name="Google Shape;232;p24"/>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OpenJML</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objectives and scope</a:t>
            </a:r>
            <a:endParaRPr/>
          </a:p>
        </p:txBody>
      </p:sp>
      <p:sp>
        <p:nvSpPr>
          <p:cNvPr id="233" name="Google Shape;233;p24"/>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24"/>
          <p:cNvSpPr txBox="1"/>
          <p:nvPr/>
        </p:nvSpPr>
        <p:spPr>
          <a:xfrm>
            <a:off x="777240" y="1783080"/>
            <a:ext cx="10895700" cy="16590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What it is: </a:t>
            </a:r>
            <a:r>
              <a:rPr lang="en-US" sz="1800">
                <a:solidFill>
                  <a:srgbClr val="16181D"/>
                </a:solidFill>
                <a:latin typeface="Calibri"/>
                <a:ea typeface="Calibri"/>
                <a:cs typeface="Calibri"/>
                <a:sym typeface="Calibri"/>
              </a:rPr>
              <a:t>OpenJML is a framework for formal specification and verification of Java programs, supporting ESC and RAC.</a:t>
            </a:r>
            <a:endParaRPr sz="1800">
              <a:solidFill>
                <a:schemeClr val="dk1"/>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OpenJML</a:t>
            </a:r>
            <a:r>
              <a:rPr lang="en-US" sz="1800">
                <a:solidFill>
                  <a:srgbClr val="16181D"/>
                </a:solidFill>
                <a:latin typeface="Calibri"/>
                <a:ea typeface="Calibri"/>
                <a:cs typeface="Calibri"/>
                <a:sym typeface="Calibri"/>
              </a:rPr>
              <a:t> provides JML specifications for part of the Java standard library, so application contracts are checked together with the available library models.</a:t>
            </a:r>
            <a:endParaRPr sz="1800">
              <a:solidFill>
                <a:schemeClr val="dk1"/>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Scope: </a:t>
            </a:r>
            <a:r>
              <a:rPr lang="en-US" sz="1800">
                <a:solidFill>
                  <a:srgbClr val="16181D"/>
                </a:solidFill>
                <a:latin typeface="Calibri"/>
                <a:ea typeface="Calibri"/>
                <a:cs typeface="Calibri"/>
                <a:sym typeface="Calibri"/>
              </a:rPr>
              <a:t>about 27 Java files, providing a model specification for all the business logic (model, dao, service).</a:t>
            </a:r>
            <a:endParaRPr sz="1800">
              <a:solidFill>
                <a:srgbClr val="16181D"/>
              </a:solidFill>
              <a:latin typeface="Calibri"/>
              <a:ea typeface="Calibri"/>
              <a:cs typeface="Calibri"/>
              <a:sym typeface="Calibri"/>
            </a:endParaRPr>
          </a:p>
        </p:txBody>
      </p:sp>
      <p:sp>
        <p:nvSpPr>
          <p:cNvPr id="235" name="Google Shape;235;p24"/>
          <p:cNvSpPr/>
          <p:nvPr/>
        </p:nvSpPr>
        <p:spPr>
          <a:xfrm>
            <a:off x="777240" y="3823134"/>
            <a:ext cx="3389400" cy="23316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24"/>
          <p:cNvSpPr txBox="1"/>
          <p:nvPr/>
        </p:nvSpPr>
        <p:spPr>
          <a:xfrm>
            <a:off x="978408" y="4031238"/>
            <a:ext cx="29871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a:solidFill>
                  <a:srgbClr val="B8860B"/>
                </a:solidFill>
                <a:latin typeface="Calibri"/>
                <a:ea typeface="Calibri"/>
                <a:cs typeface="Calibri"/>
                <a:sym typeface="Calibri"/>
              </a:rPr>
              <a:t>10 Model classes</a:t>
            </a:r>
            <a:endParaRPr/>
          </a:p>
        </p:txBody>
      </p:sp>
      <p:sp>
        <p:nvSpPr>
          <p:cNvPr id="237" name="Google Shape;237;p24"/>
          <p:cNvSpPr txBox="1"/>
          <p:nvPr/>
        </p:nvSpPr>
        <p:spPr>
          <a:xfrm>
            <a:off x="978408" y="4461006"/>
            <a:ext cx="2987100" cy="1349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a:solidFill>
                  <a:srgbClr val="16181D"/>
                </a:solidFill>
                <a:latin typeface="Calibri"/>
                <a:ea typeface="Calibri"/>
                <a:cs typeface="Calibri"/>
                <a:sym typeface="Calibri"/>
              </a:rPr>
              <a:t>FilmBean, FilmGenereBean, GenereBean, InteresseBean, PreferenzaBean, RecensioneBean, ReportBean, UtenteBean, ValutazioneBean, VistoBean</a:t>
            </a:r>
            <a:br>
              <a:rPr b="0" i="0" lang="en-US" sz="1200">
                <a:solidFill>
                  <a:srgbClr val="16181D"/>
                </a:solidFill>
                <a:latin typeface="Calibri"/>
                <a:ea typeface="Calibri"/>
                <a:cs typeface="Calibri"/>
                <a:sym typeface="Calibri"/>
              </a:rPr>
            </a:br>
            <a:br>
              <a:rPr b="0" i="0" lang="en-US" sz="1200">
                <a:solidFill>
                  <a:srgbClr val="16181D"/>
                </a:solidFill>
                <a:latin typeface="Calibri"/>
                <a:ea typeface="Calibri"/>
                <a:cs typeface="Calibri"/>
                <a:sym typeface="Calibri"/>
              </a:rPr>
            </a:br>
            <a:r>
              <a:rPr b="0" i="0" lang="en-US" sz="1200">
                <a:solidFill>
                  <a:srgbClr val="16181D"/>
                </a:solidFill>
                <a:latin typeface="Calibri"/>
                <a:ea typeface="Calibri"/>
                <a:cs typeface="Calibri"/>
                <a:sym typeface="Calibri"/>
              </a:rPr>
              <a:t>Annotated with class invariants and contracts for constructors, getters and setters.</a:t>
            </a:r>
            <a:endParaRPr b="0" i="0" sz="1200">
              <a:solidFill>
                <a:srgbClr val="16181D"/>
              </a:solidFill>
              <a:latin typeface="Calibri"/>
              <a:ea typeface="Calibri"/>
              <a:cs typeface="Calibri"/>
              <a:sym typeface="Calibri"/>
            </a:endParaRPr>
          </a:p>
        </p:txBody>
      </p:sp>
      <p:sp>
        <p:nvSpPr>
          <p:cNvPr id="238" name="Google Shape;238;p24"/>
          <p:cNvSpPr/>
          <p:nvPr/>
        </p:nvSpPr>
        <p:spPr>
          <a:xfrm>
            <a:off x="4386071" y="3823134"/>
            <a:ext cx="3389400" cy="23316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24"/>
          <p:cNvSpPr txBox="1"/>
          <p:nvPr/>
        </p:nvSpPr>
        <p:spPr>
          <a:xfrm>
            <a:off x="4587239" y="4031238"/>
            <a:ext cx="29871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a:solidFill>
                  <a:srgbClr val="B8860B"/>
                </a:solidFill>
                <a:latin typeface="Calibri"/>
                <a:ea typeface="Calibri"/>
                <a:cs typeface="Calibri"/>
                <a:sym typeface="Calibri"/>
              </a:rPr>
              <a:t>10 DAO classes</a:t>
            </a:r>
            <a:endParaRPr/>
          </a:p>
        </p:txBody>
      </p:sp>
      <p:sp>
        <p:nvSpPr>
          <p:cNvPr id="240" name="Google Shape;240;p24"/>
          <p:cNvSpPr txBox="1"/>
          <p:nvPr/>
        </p:nvSpPr>
        <p:spPr>
          <a:xfrm>
            <a:off x="4587239" y="4461006"/>
            <a:ext cx="2987100" cy="1543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a:solidFill>
                  <a:srgbClr val="16181D"/>
                </a:solidFill>
                <a:latin typeface="Calibri"/>
                <a:ea typeface="Calibri"/>
                <a:cs typeface="Calibri"/>
                <a:sym typeface="Calibri"/>
              </a:rPr>
              <a:t>FilmDAO, FilmGenereDAO, GenereDAO, InteresseDAO, PreferenzaDAO, RecensioneDAO, ReportDAO, UtenteDAO, ValutazioneDAO, VistoDAO</a:t>
            </a:r>
            <a:br>
              <a:rPr b="0" i="0" lang="en-US" sz="1200">
                <a:solidFill>
                  <a:srgbClr val="16181D"/>
                </a:solidFill>
                <a:latin typeface="Calibri"/>
                <a:ea typeface="Calibri"/>
                <a:cs typeface="Calibri"/>
                <a:sym typeface="Calibri"/>
              </a:rPr>
            </a:br>
            <a:br>
              <a:rPr b="0" i="0" lang="en-US" sz="1200">
                <a:solidFill>
                  <a:srgbClr val="16181D"/>
                </a:solidFill>
                <a:latin typeface="Calibri"/>
                <a:ea typeface="Calibri"/>
                <a:cs typeface="Calibri"/>
                <a:sym typeface="Calibri"/>
              </a:rPr>
            </a:br>
            <a:r>
              <a:rPr b="0" i="0" lang="en-US" sz="1200">
                <a:solidFill>
                  <a:srgbClr val="16181D"/>
                </a:solidFill>
                <a:latin typeface="Calibri"/>
                <a:ea typeface="Calibri"/>
                <a:cs typeface="Calibri"/>
                <a:sym typeface="Calibri"/>
              </a:rPr>
              <a:t>Preconditions on parameters, frame conditions, nullability and minimal properties of returned objects and collections.</a:t>
            </a:r>
            <a:endParaRPr b="0" i="0" sz="1200">
              <a:solidFill>
                <a:srgbClr val="16181D"/>
              </a:solidFill>
              <a:latin typeface="Calibri"/>
              <a:ea typeface="Calibri"/>
              <a:cs typeface="Calibri"/>
              <a:sym typeface="Calibri"/>
            </a:endParaRPr>
          </a:p>
        </p:txBody>
      </p:sp>
      <p:sp>
        <p:nvSpPr>
          <p:cNvPr id="241" name="Google Shape;241;p24"/>
          <p:cNvSpPr/>
          <p:nvPr/>
        </p:nvSpPr>
        <p:spPr>
          <a:xfrm>
            <a:off x="7976615" y="3823134"/>
            <a:ext cx="3389400" cy="23316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24"/>
          <p:cNvSpPr txBox="1"/>
          <p:nvPr/>
        </p:nvSpPr>
        <p:spPr>
          <a:xfrm>
            <a:off x="8196072" y="4031238"/>
            <a:ext cx="2987100" cy="36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a:solidFill>
                  <a:srgbClr val="B8860B"/>
                </a:solidFill>
                <a:latin typeface="Calibri"/>
                <a:ea typeface="Calibri"/>
                <a:cs typeface="Calibri"/>
                <a:sym typeface="Calibri"/>
              </a:rPr>
              <a:t>5 Services + 2 Utilities</a:t>
            </a:r>
            <a:endParaRPr/>
          </a:p>
        </p:txBody>
      </p:sp>
      <p:sp>
        <p:nvSpPr>
          <p:cNvPr id="243" name="Google Shape;243;p24"/>
          <p:cNvSpPr txBox="1"/>
          <p:nvPr/>
        </p:nvSpPr>
        <p:spPr>
          <a:xfrm>
            <a:off x="8196072" y="4461006"/>
            <a:ext cx="2987100" cy="1554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00">
                <a:solidFill>
                  <a:srgbClr val="16181D"/>
                </a:solidFill>
                <a:latin typeface="Calibri"/>
                <a:ea typeface="Calibri"/>
                <a:cs typeface="Calibri"/>
                <a:sym typeface="Calibri"/>
              </a:rPr>
              <a:t>CatalogoService, RecensioniService, AutenticationService, ModerationService, ProfileService — modular reasoning about domain objects and DAOs.</a:t>
            </a:r>
            <a:br>
              <a:rPr b="0" i="0" lang="en-US" sz="1200">
                <a:solidFill>
                  <a:srgbClr val="16181D"/>
                </a:solidFill>
                <a:latin typeface="Calibri"/>
                <a:ea typeface="Calibri"/>
                <a:cs typeface="Calibri"/>
                <a:sym typeface="Calibri"/>
              </a:rPr>
            </a:br>
            <a:br>
              <a:rPr b="0" i="0" lang="en-US" sz="1200">
                <a:solidFill>
                  <a:srgbClr val="16181D"/>
                </a:solidFill>
                <a:latin typeface="Calibri"/>
                <a:ea typeface="Calibri"/>
                <a:cs typeface="Calibri"/>
                <a:sym typeface="Calibri"/>
              </a:rPr>
            </a:br>
            <a:r>
              <a:rPr b="0" i="0" lang="en-US" sz="1200">
                <a:solidFill>
                  <a:srgbClr val="16181D"/>
                </a:solidFill>
                <a:latin typeface="Calibri"/>
                <a:ea typeface="Calibri"/>
                <a:cs typeface="Calibri"/>
                <a:sym typeface="Calibri"/>
              </a:rPr>
              <a:t>FieldValidator and PasswordUtility: validation and hashing contracts, implementations treated as trusted boundaries.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5"/>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3 · FORMAL VERIFICATION</a:t>
            </a:r>
            <a:endParaRPr/>
          </a:p>
        </p:txBody>
      </p:sp>
      <p:sp>
        <p:nvSpPr>
          <p:cNvPr id="249" name="Google Shape;249;p25"/>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OpenJML application strategy</a:t>
            </a:r>
            <a:endParaRPr/>
          </a:p>
        </p:txBody>
      </p:sp>
      <p:sp>
        <p:nvSpPr>
          <p:cNvPr id="250" name="Google Shape;250;p25"/>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25"/>
          <p:cNvSpPr txBox="1"/>
          <p:nvPr/>
        </p:nvSpPr>
        <p:spPr>
          <a:xfrm>
            <a:off x="771625" y="1946900"/>
            <a:ext cx="10607100" cy="36018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Approach: </a:t>
            </a:r>
            <a:r>
              <a:rPr lang="en-US" sz="1800">
                <a:solidFill>
                  <a:srgbClr val="16181D"/>
                </a:solidFill>
                <a:latin typeface="Calibri"/>
                <a:ea typeface="Calibri"/>
                <a:cs typeface="Calibri"/>
                <a:sym typeface="Calibri"/>
              </a:rPr>
              <a:t>We verified the code bottom-up: first the model classes, then the DAOs, then the services. </a:t>
            </a:r>
            <a:r>
              <a:rPr lang="en-US" sz="1800">
                <a:solidFill>
                  <a:schemeClr val="dk1"/>
                </a:solidFill>
                <a:latin typeface="Calibri"/>
                <a:ea typeface="Calibri"/>
                <a:cs typeface="Calibri"/>
                <a:sym typeface="Calibri"/>
              </a:rPr>
              <a:t>Each class and method was annotated with contracts (what must hold before it runs, what it guarantees afterwards, and what must always be true of the object). OpenJML then proves the code respects them.</a:t>
            </a:r>
            <a:r>
              <a:rPr lang="en-US" sz="1800">
                <a:solidFill>
                  <a:srgbClr val="000000"/>
                </a:solidFill>
                <a:latin typeface="Calibri"/>
                <a:ea typeface="Calibri"/>
                <a:cs typeface="Calibri"/>
                <a:sym typeface="Calibri"/>
              </a:rPr>
              <a:t> </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t/>
            </a:r>
            <a:endParaRPr sz="1800">
              <a:solidFill>
                <a:srgbClr val="00000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Model:</a:t>
            </a:r>
            <a:r>
              <a:rPr lang="en-US" sz="1800">
                <a:solidFill>
                  <a:srgbClr val="16181D"/>
                </a:solidFill>
                <a:latin typeface="Calibri"/>
                <a:ea typeface="Calibri"/>
                <a:cs typeface="Calibri"/>
                <a:sym typeface="Calibri"/>
              </a:rPr>
              <a:t> the contracts say when an object is valid (for example, a film cannot have a negative duration) and the constructors make it impossible to create an invalid one. </a:t>
            </a:r>
            <a:endParaRPr sz="1800">
              <a:solidFill>
                <a:schemeClr val="dk1"/>
              </a:solidFill>
              <a:latin typeface="Calibri"/>
              <a:ea typeface="Calibri"/>
              <a:cs typeface="Calibri"/>
              <a:sym typeface="Calibri"/>
            </a:endParaRPr>
          </a:p>
          <a:p>
            <a:pPr indent="0" lvl="0" marL="0" marR="0" rtl="0" algn="l">
              <a:lnSpc>
                <a:spcPct val="106000"/>
              </a:lnSpc>
              <a:spcBef>
                <a:spcPts val="600"/>
              </a:spcBef>
              <a:spcAft>
                <a:spcPts val="0"/>
              </a:spcAft>
              <a:buNone/>
            </a:pPr>
            <a:r>
              <a:t/>
            </a:r>
            <a:endParaRPr sz="18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DAO:</a:t>
            </a:r>
            <a:r>
              <a:rPr lang="en-US" sz="1800">
                <a:solidFill>
                  <a:srgbClr val="16181D"/>
                </a:solidFill>
                <a:latin typeface="Calibri"/>
                <a:ea typeface="Calibri"/>
                <a:cs typeface="Calibri"/>
                <a:sym typeface="Calibri"/>
              </a:rPr>
              <a:t> the contracts say what a method needs in order to work, what it gives back, and whether it changes the database. </a:t>
            </a: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800">
                <a:solidFill>
                  <a:schemeClr val="dk1"/>
                </a:solidFill>
                <a:latin typeface="Calibri"/>
                <a:ea typeface="Calibri"/>
                <a:cs typeface="Calibri"/>
                <a:sym typeface="Calibri"/>
              </a:rPr>
              <a:t>Service:</a:t>
            </a:r>
            <a:r>
              <a:rPr lang="en-US" sz="1800">
                <a:solidFill>
                  <a:schemeClr val="dk1"/>
                </a:solidFill>
                <a:latin typeface="Calibri"/>
                <a:ea typeface="Calibri"/>
                <a:cs typeface="Calibri"/>
                <a:sym typeface="Calibri"/>
              </a:rPr>
              <a:t> the same reasoning applied to operations such as catalog, reviews, authentication, moderation.</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26"/>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3 · FORMAL VERIFICATION</a:t>
            </a:r>
            <a:endParaRPr/>
          </a:p>
        </p:txBody>
      </p:sp>
      <p:sp>
        <p:nvSpPr>
          <p:cNvPr id="257" name="Google Shape;257;p26"/>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OpenJML</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application strategy</a:t>
            </a:r>
            <a:endParaRPr/>
          </a:p>
        </p:txBody>
      </p:sp>
      <p:sp>
        <p:nvSpPr>
          <p:cNvPr id="258" name="Google Shape;258;p26"/>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26"/>
          <p:cNvSpPr txBox="1"/>
          <p:nvPr/>
        </p:nvSpPr>
        <p:spPr>
          <a:xfrm>
            <a:off x="777240" y="1737360"/>
            <a:ext cx="10607100" cy="44679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5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Bottom-up approach: </a:t>
            </a:r>
            <a:r>
              <a:rPr lang="en-US" sz="1600">
                <a:solidFill>
                  <a:srgbClr val="16181D"/>
                </a:solidFill>
                <a:latin typeface="Calibri"/>
                <a:ea typeface="Calibri"/>
                <a:cs typeface="Calibri"/>
                <a:sym typeface="Calibri"/>
              </a:rPr>
              <a:t>Model layer first, then DAOs, finally the Service layer.</a:t>
            </a:r>
            <a:br>
              <a:rPr lang="en-US" sz="1600">
                <a:solidFill>
                  <a:srgbClr val="16181D"/>
                </a:solidFill>
                <a:latin typeface="Calibri"/>
                <a:ea typeface="Calibri"/>
                <a:cs typeface="Calibri"/>
                <a:sym typeface="Calibri"/>
              </a:rPr>
            </a:br>
            <a:endParaRPr sz="16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5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Model — class invariants: </a:t>
            </a:r>
            <a:r>
              <a:rPr lang="en-US" sz="1600">
                <a:solidFill>
                  <a:srgbClr val="16181D"/>
                </a:solidFill>
                <a:latin typeface="Calibri"/>
                <a:ea typeface="Calibri"/>
                <a:cs typeface="Calibri"/>
                <a:sym typeface="Calibri"/>
              </a:rPr>
              <a:t>non-negative identifiers, year, duration and rating; non-null film name, director, actors and plot. Similar invariants for users, reviews, reports, ratings, preferences, watched films and interests.</a:t>
            </a:r>
            <a:endParaRPr/>
          </a:p>
          <a:p>
            <a:pPr indent="0" lvl="0" marL="0" marR="0" rtl="0" algn="l">
              <a:lnSpc>
                <a:spcPct val="106000"/>
              </a:lnSpc>
              <a:spcBef>
                <a:spcPts val="600"/>
              </a:spcBef>
              <a:spcAft>
                <a:spcPts val="0"/>
              </a:spcAft>
              <a:buNone/>
            </a:pPr>
            <a:r>
              <a:rPr b="1" lang="en-US" sz="1400">
                <a:solidFill>
                  <a:srgbClr val="5B6270"/>
                </a:solidFill>
                <a:latin typeface="Calibri"/>
                <a:ea typeface="Calibri"/>
                <a:cs typeface="Calibri"/>
                <a:sym typeface="Calibri"/>
              </a:rPr>
              <a:t>–  </a:t>
            </a:r>
            <a:r>
              <a:rPr b="1" lang="en-US" sz="1400">
                <a:solidFill>
                  <a:srgbClr val="16181D"/>
                </a:solidFill>
                <a:latin typeface="Calibri"/>
                <a:ea typeface="Calibri"/>
                <a:cs typeface="Calibri"/>
                <a:sym typeface="Calibri"/>
              </a:rPr>
              <a:t>Explicit nullability: </a:t>
            </a:r>
            <a:r>
              <a:rPr lang="en-US" sz="1400">
                <a:solidFill>
                  <a:srgbClr val="5B6270"/>
                </a:solidFill>
                <a:latin typeface="Calibri"/>
                <a:ea typeface="Calibri"/>
                <a:cs typeface="Calibri"/>
                <a:sym typeface="Calibri"/>
              </a:rPr>
              <a:t>film posters and user icons are marked with JML nullability annotations, distinguishing intentional null values from invariant-breaking ones.</a:t>
            </a:r>
            <a:endParaRPr/>
          </a:p>
          <a:p>
            <a:pPr indent="0" lvl="0" marL="0" marR="0" rtl="0" algn="l">
              <a:lnSpc>
                <a:spcPct val="106000"/>
              </a:lnSpc>
              <a:spcBef>
                <a:spcPts val="300"/>
              </a:spcBef>
              <a:spcAft>
                <a:spcPts val="0"/>
              </a:spcAft>
              <a:buNone/>
            </a:pPr>
            <a:r>
              <a:rPr b="1" lang="en-US" sz="1400">
                <a:solidFill>
                  <a:srgbClr val="5B6270"/>
                </a:solidFill>
                <a:latin typeface="Calibri"/>
                <a:ea typeface="Calibri"/>
                <a:cs typeface="Calibri"/>
                <a:sym typeface="Calibri"/>
              </a:rPr>
              <a:t>–  </a:t>
            </a:r>
            <a:r>
              <a:rPr b="1" lang="en-US" sz="1400">
                <a:solidFill>
                  <a:srgbClr val="16181D"/>
                </a:solidFill>
                <a:latin typeface="Calibri"/>
                <a:ea typeface="Calibri"/>
                <a:cs typeface="Calibri"/>
                <a:sym typeface="Calibri"/>
              </a:rPr>
              <a:t>Constructors: </a:t>
            </a:r>
            <a:r>
              <a:rPr lang="en-US" sz="1400">
                <a:solidFill>
                  <a:srgbClr val="5B6270"/>
                </a:solidFill>
                <a:latin typeface="Calibri"/>
                <a:ea typeface="Calibri"/>
                <a:cs typeface="Calibri"/>
                <a:sym typeface="Calibri"/>
              </a:rPr>
              <a:t>default ones initialize every field; parameterized ones use preconditions to exclude arguments that would immediately violate an invariant.</a:t>
            </a:r>
            <a:br>
              <a:rPr lang="en-US" sz="1350">
                <a:solidFill>
                  <a:srgbClr val="5B6270"/>
                </a:solidFill>
                <a:latin typeface="Calibri"/>
                <a:ea typeface="Calibri"/>
                <a:cs typeface="Calibri"/>
                <a:sym typeface="Calibri"/>
              </a:rPr>
            </a:br>
            <a:endParaRPr sz="1350">
              <a:solidFill>
                <a:srgbClr val="5B6270"/>
              </a:solidFill>
              <a:latin typeface="Calibri"/>
              <a:ea typeface="Calibri"/>
              <a:cs typeface="Calibri"/>
              <a:sym typeface="Calibri"/>
            </a:endParaRPr>
          </a:p>
          <a:p>
            <a:pPr indent="0" lvl="0" marL="0" marR="0" rtl="0" algn="l">
              <a:lnSpc>
                <a:spcPct val="106000"/>
              </a:lnSpc>
              <a:spcBef>
                <a:spcPts val="300"/>
              </a:spcBef>
              <a:spcAft>
                <a:spcPts val="0"/>
              </a:spcAft>
              <a:buNone/>
            </a:pPr>
            <a:r>
              <a:rPr b="1" lang="en-US" sz="15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DAO — contracts: </a:t>
            </a:r>
            <a:r>
              <a:rPr lang="en-US" sz="1600">
                <a:solidFill>
                  <a:srgbClr val="16181D"/>
                </a:solidFill>
                <a:latin typeface="Calibri"/>
                <a:ea typeface="Calibri"/>
                <a:cs typeface="Calibri"/>
                <a:sym typeface="Calibri"/>
              </a:rPr>
              <a:t>preconditions on non-null parameters, valid identifiers and the availability of a non-null data source.</a:t>
            </a:r>
            <a:endParaRPr/>
          </a:p>
          <a:p>
            <a:pPr indent="0" lvl="0" marL="0" marR="0" rtl="0" algn="l">
              <a:lnSpc>
                <a:spcPct val="106000"/>
              </a:lnSpc>
              <a:spcBef>
                <a:spcPts val="600"/>
              </a:spcBef>
              <a:spcAft>
                <a:spcPts val="0"/>
              </a:spcAft>
              <a:buNone/>
            </a:pPr>
            <a:r>
              <a:rPr b="1" lang="en-US" sz="1400">
                <a:solidFill>
                  <a:srgbClr val="5B6270"/>
                </a:solidFill>
                <a:latin typeface="Calibri"/>
                <a:ea typeface="Calibri"/>
                <a:cs typeface="Calibri"/>
                <a:sym typeface="Calibri"/>
              </a:rPr>
              <a:t>–  </a:t>
            </a:r>
            <a:r>
              <a:rPr b="1" lang="en-US" sz="1400">
                <a:solidFill>
                  <a:srgbClr val="16181D"/>
                </a:solidFill>
                <a:latin typeface="Calibri"/>
                <a:ea typeface="Calibri"/>
                <a:cs typeface="Calibri"/>
                <a:sym typeface="Calibri"/>
              </a:rPr>
              <a:t>Read operations: </a:t>
            </a:r>
            <a:r>
              <a:rPr lang="en-US" sz="1400">
                <a:solidFill>
                  <a:srgbClr val="5B6270"/>
                </a:solidFill>
                <a:latin typeface="Calibri"/>
                <a:ea typeface="Calibri"/>
                <a:cs typeface="Calibri"/>
                <a:sym typeface="Calibri"/>
              </a:rPr>
              <a:t>expected properties of return values (FilmDAO.findById ensures the returned FilmBean matches the requested ID) and \forall over returned collections.</a:t>
            </a:r>
            <a:endParaRPr/>
          </a:p>
          <a:p>
            <a:pPr indent="0" lvl="0" marL="0" marR="0" rtl="0" algn="l">
              <a:lnSpc>
                <a:spcPct val="106000"/>
              </a:lnSpc>
              <a:spcBef>
                <a:spcPts val="300"/>
              </a:spcBef>
              <a:spcAft>
                <a:spcPts val="0"/>
              </a:spcAft>
              <a:buNone/>
            </a:pPr>
            <a:r>
              <a:rPr b="1" lang="en-US" sz="1400">
                <a:solidFill>
                  <a:srgbClr val="5B6270"/>
                </a:solidFill>
                <a:latin typeface="Calibri"/>
                <a:ea typeface="Calibri"/>
                <a:cs typeface="Calibri"/>
                <a:sym typeface="Calibri"/>
              </a:rPr>
              <a:t>–  </a:t>
            </a:r>
            <a:r>
              <a:rPr b="1" lang="en-US" sz="1400">
                <a:solidFill>
                  <a:srgbClr val="16181D"/>
                </a:solidFill>
                <a:latin typeface="Calibri"/>
                <a:ea typeface="Calibri"/>
                <a:cs typeface="Calibri"/>
                <a:sym typeface="Calibri"/>
              </a:rPr>
              <a:t>Frame conditions: </a:t>
            </a:r>
            <a:r>
              <a:rPr lang="en-US" sz="1400">
                <a:solidFill>
                  <a:srgbClr val="5B6270"/>
                </a:solidFill>
                <a:latin typeface="Calibri"/>
                <a:ea typeface="Calibri"/>
                <a:cs typeface="Calibri"/>
                <a:sym typeface="Calibri"/>
              </a:rPr>
              <a:t>assignable \everything on save, update and delete — persistent MySQL effects cannot be represented in the Java heap model; assignable \nothing on read operations.</a:t>
            </a:r>
            <a:br>
              <a:rPr lang="en-US" sz="1350">
                <a:solidFill>
                  <a:srgbClr val="5B6270"/>
                </a:solidFill>
                <a:latin typeface="Calibri"/>
                <a:ea typeface="Calibri"/>
                <a:cs typeface="Calibri"/>
                <a:sym typeface="Calibri"/>
              </a:rPr>
            </a:br>
            <a:endParaRPr sz="1350">
              <a:solidFill>
                <a:srgbClr val="5B6270"/>
              </a:solidFill>
              <a:latin typeface="Calibri"/>
              <a:ea typeface="Calibri"/>
              <a:cs typeface="Calibri"/>
              <a:sym typeface="Calibri"/>
            </a:endParaRPr>
          </a:p>
          <a:p>
            <a:pPr indent="0" lvl="0" marL="0" marR="0" rtl="0" algn="l">
              <a:lnSpc>
                <a:spcPct val="106000"/>
              </a:lnSpc>
              <a:spcBef>
                <a:spcPts val="300"/>
              </a:spcBef>
              <a:spcAft>
                <a:spcPts val="0"/>
              </a:spcAft>
              <a:buNone/>
            </a:pPr>
            <a:r>
              <a:rPr b="1" lang="en-US" sz="15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Service layer: </a:t>
            </a:r>
            <a:r>
              <a:rPr lang="en-US" sz="1600">
                <a:solidFill>
                  <a:srgbClr val="16181D"/>
                </a:solidFill>
                <a:latin typeface="Calibri"/>
                <a:ea typeface="Calibri"/>
                <a:cs typeface="Calibri"/>
                <a:sym typeface="Calibri"/>
              </a:rPr>
              <a:t>contracts for catalog retrieval and film management, review publication, deletion, voting and reporting, authentication and registration, user profiles, preferences, watchlists and moderation.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3 · FORMAL VERIFICATION</a:t>
            </a:r>
            <a:endParaRPr/>
          </a:p>
        </p:txBody>
      </p:sp>
      <p:sp>
        <p:nvSpPr>
          <p:cNvPr id="265" name="Google Shape;265;p27"/>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6181D"/>
                </a:solidFill>
                <a:latin typeface="Calibri"/>
                <a:ea typeface="Calibri"/>
                <a:cs typeface="Calibri"/>
                <a:sym typeface="Calibri"/>
              </a:rPr>
              <a:t>OpenJML</a:t>
            </a:r>
            <a:r>
              <a:rPr b="1" lang="en-US" sz="3000">
                <a:solidFill>
                  <a:srgbClr val="16181D"/>
                </a:solidFill>
                <a:latin typeface="Calibri"/>
                <a:ea typeface="Calibri"/>
                <a:cs typeface="Calibri"/>
                <a:sym typeface="Calibri"/>
              </a:rPr>
              <a:t> </a:t>
            </a:r>
            <a:r>
              <a:rPr b="1" i="0" lang="en-US" sz="3000">
                <a:solidFill>
                  <a:srgbClr val="16181D"/>
                </a:solidFill>
                <a:latin typeface="Calibri"/>
                <a:ea typeface="Calibri"/>
                <a:cs typeface="Calibri"/>
                <a:sym typeface="Calibri"/>
              </a:rPr>
              <a:t>verification results</a:t>
            </a:r>
            <a:endParaRPr/>
          </a:p>
        </p:txBody>
      </p:sp>
      <p:sp>
        <p:nvSpPr>
          <p:cNvPr id="266" name="Google Shape;266;p27"/>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27"/>
          <p:cNvSpPr txBox="1"/>
          <p:nvPr/>
        </p:nvSpPr>
        <p:spPr>
          <a:xfrm>
            <a:off x="777240" y="1828800"/>
            <a:ext cx="10902600" cy="19545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Complete ESC verification: </a:t>
            </a:r>
            <a:r>
              <a:rPr lang="en-US" sz="1800">
                <a:solidFill>
                  <a:srgbClr val="16181D"/>
                </a:solidFill>
                <a:latin typeface="Calibri"/>
                <a:ea typeface="Calibri"/>
                <a:cs typeface="Calibri"/>
                <a:sym typeface="Calibri"/>
              </a:rPr>
              <a:t>all 27 annotated Java files analyzed with OpenJML and the verification terminates with exit code zero.</a:t>
            </a:r>
            <a:endParaRPr sz="1800">
              <a:solidFill>
                <a:srgbClr val="000000"/>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RAC compilation: </a:t>
            </a:r>
            <a:r>
              <a:rPr lang="en-US" sz="1800">
                <a:solidFill>
                  <a:srgbClr val="16181D"/>
                </a:solidFill>
                <a:latin typeface="Calibri"/>
                <a:ea typeface="Calibri"/>
                <a:cs typeface="Calibri"/>
                <a:sym typeface="Calibri"/>
              </a:rPr>
              <a:t>completed successfully on the same 27 files, producing instrumented class files for runtime assertion checking.</a:t>
            </a:r>
            <a:endParaRPr sz="1800">
              <a:solidFill>
                <a:schemeClr val="dk1"/>
              </a:solidFill>
              <a:latin typeface="Calibri"/>
              <a:ea typeface="Calibri"/>
              <a:cs typeface="Calibri"/>
              <a:sym typeface="Calibri"/>
            </a:endParaRPr>
          </a:p>
          <a:p>
            <a:pPr indent="0" lvl="0" marL="0" marR="0" rtl="0" algn="l">
              <a:lnSpc>
                <a:spcPct val="106000"/>
              </a:lnSpc>
              <a:spcBef>
                <a:spcPts val="800"/>
              </a:spcBef>
              <a:spcAft>
                <a:spcPts val="0"/>
              </a:spcAft>
              <a:buNone/>
            </a:pPr>
            <a:r>
              <a:rPr b="1" lang="en-US" sz="1800">
                <a:solidFill>
                  <a:srgbClr val="B8860B"/>
                </a:solidFill>
                <a:latin typeface="Calibri"/>
                <a:ea typeface="Calibri"/>
                <a:cs typeface="Calibri"/>
                <a:sym typeface="Calibri"/>
              </a:rPr>
              <a:t>▸  </a:t>
            </a:r>
            <a:r>
              <a:rPr b="1" lang="en-US" sz="1800">
                <a:solidFill>
                  <a:srgbClr val="16181D"/>
                </a:solidFill>
                <a:latin typeface="Calibri"/>
                <a:ea typeface="Calibri"/>
                <a:cs typeface="Calibri"/>
                <a:sym typeface="Calibri"/>
              </a:rPr>
              <a:t>Conclusion: </a:t>
            </a:r>
            <a:r>
              <a:rPr lang="en-US" sz="1800">
                <a:solidFill>
                  <a:srgbClr val="16181D"/>
                </a:solidFill>
                <a:latin typeface="Calibri"/>
                <a:ea typeface="Calibri"/>
                <a:cs typeface="Calibri"/>
                <a:sym typeface="Calibri"/>
              </a:rPr>
              <a:t>the correctness of the core business logic is effectively guaranteed by formal verification, not by tests alone.</a:t>
            </a:r>
            <a:endParaRPr sz="1800">
              <a:solidFill>
                <a:schemeClr val="dk1"/>
              </a:solidFill>
              <a:latin typeface="Calibri"/>
              <a:ea typeface="Calibri"/>
              <a:cs typeface="Calibri"/>
              <a:sym typeface="Calibri"/>
            </a:endParaRPr>
          </a:p>
        </p:txBody>
      </p:sp>
      <p:pic>
        <p:nvPicPr>
          <p:cNvPr id="268" name="Google Shape;268;p27"/>
          <p:cNvPicPr preferRelativeResize="0"/>
          <p:nvPr/>
        </p:nvPicPr>
        <p:blipFill rotWithShape="1">
          <a:blip r:embed="rId3">
            <a:alphaModFix/>
          </a:blip>
          <a:srcRect b="0" l="0" r="0" t="0"/>
          <a:stretch/>
        </p:blipFill>
        <p:spPr>
          <a:xfrm>
            <a:off x="777240" y="3831290"/>
            <a:ext cx="8467725" cy="1200150"/>
          </a:xfrm>
          <a:prstGeom prst="rect">
            <a:avLst/>
          </a:prstGeom>
          <a:noFill/>
          <a:ln>
            <a:noFill/>
          </a:ln>
        </p:spPr>
      </p:pic>
      <p:pic>
        <p:nvPicPr>
          <p:cNvPr id="269" name="Google Shape;269;p27"/>
          <p:cNvPicPr preferRelativeResize="0"/>
          <p:nvPr/>
        </p:nvPicPr>
        <p:blipFill rotWithShape="1">
          <a:blip r:embed="rId4">
            <a:alphaModFix/>
          </a:blip>
          <a:srcRect b="0" l="0" r="0" t="0"/>
          <a:stretch/>
        </p:blipFill>
        <p:spPr>
          <a:xfrm>
            <a:off x="777240" y="5082747"/>
            <a:ext cx="8469388" cy="1343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8"/>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28"/>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28"/>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4</a:t>
            </a:r>
            <a:endParaRPr/>
          </a:p>
        </p:txBody>
      </p:sp>
      <p:sp>
        <p:nvSpPr>
          <p:cNvPr id="277" name="Google Shape;277;p28"/>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Docker environment configuration</a:t>
            </a:r>
            <a:endParaRPr/>
          </a:p>
        </p:txBody>
      </p:sp>
      <p:sp>
        <p:nvSpPr>
          <p:cNvPr id="278" name="Google Shape;278;p28"/>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9"/>
          <p:cNvSpPr txBox="1"/>
          <p:nvPr/>
        </p:nvSpPr>
        <p:spPr>
          <a:xfrm>
            <a:off x="777240" y="438912"/>
            <a:ext cx="10607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4 · DOCKER ENVIRONMENT</a:t>
            </a:r>
            <a:endParaRPr/>
          </a:p>
        </p:txBody>
      </p:sp>
      <p:sp>
        <p:nvSpPr>
          <p:cNvPr id="284" name="Google Shape;284;p29"/>
          <p:cNvSpPr txBox="1"/>
          <p:nvPr/>
        </p:nvSpPr>
        <p:spPr>
          <a:xfrm>
            <a:off x="777240" y="749808"/>
            <a:ext cx="10607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The whole stack in containers</a:t>
            </a:r>
            <a:endParaRPr/>
          </a:p>
        </p:txBody>
      </p:sp>
      <p:sp>
        <p:nvSpPr>
          <p:cNvPr id="285" name="Google Shape;285;p29"/>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29"/>
          <p:cNvSpPr txBox="1"/>
          <p:nvPr/>
        </p:nvSpPr>
        <p:spPr>
          <a:xfrm>
            <a:off x="777240" y="1783080"/>
            <a:ext cx="10607100" cy="7773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None/>
            </a:pPr>
            <a:r>
              <a:rPr b="1" i="0" lang="en-US" sz="1800">
                <a:solidFill>
                  <a:srgbClr val="B8860B"/>
                </a:solidFill>
                <a:latin typeface="Calibri"/>
                <a:ea typeface="Calibri"/>
                <a:cs typeface="Calibri"/>
                <a:sym typeface="Calibri"/>
              </a:rPr>
              <a:t>▸  </a:t>
            </a:r>
            <a:r>
              <a:rPr i="0" lang="en-US" sz="1800">
                <a:solidFill>
                  <a:schemeClr val="dk1"/>
                </a:solidFill>
                <a:latin typeface="Calibri"/>
                <a:ea typeface="Calibri"/>
                <a:cs typeface="Calibri"/>
                <a:sym typeface="Calibri"/>
              </a:rPr>
              <a:t>The </a:t>
            </a:r>
            <a:r>
              <a:rPr b="0" i="0" lang="en-US" sz="1800">
                <a:solidFill>
                  <a:srgbClr val="16181D"/>
                </a:solidFill>
                <a:latin typeface="Calibri"/>
                <a:ea typeface="Calibri"/>
                <a:cs typeface="Calibri"/>
                <a:sym typeface="Calibri"/>
              </a:rPr>
              <a:t>application and its database are packaged as Docker containers and started together from a single Compose file.</a:t>
            </a:r>
            <a:endParaRPr b="0" i="0" sz="18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i="0" lang="en-US" sz="1800">
                <a:solidFill>
                  <a:srgbClr val="B8860B"/>
                </a:solidFill>
                <a:latin typeface="Calibri"/>
                <a:ea typeface="Calibri"/>
                <a:cs typeface="Calibri"/>
                <a:sym typeface="Calibri"/>
              </a:rPr>
              <a:t>▸  </a:t>
            </a:r>
            <a:r>
              <a:rPr lang="en-US" sz="1800">
                <a:solidFill>
                  <a:srgbClr val="16181D"/>
                </a:solidFill>
                <a:latin typeface="Calibri"/>
                <a:ea typeface="Calibri"/>
                <a:cs typeface="Calibri"/>
                <a:sym typeface="Calibri"/>
              </a:rPr>
              <a:t>O</a:t>
            </a:r>
            <a:r>
              <a:rPr b="0" i="0" lang="en-US" sz="1800">
                <a:solidFill>
                  <a:srgbClr val="16181D"/>
                </a:solidFill>
                <a:latin typeface="Calibri"/>
                <a:ea typeface="Calibri"/>
                <a:cs typeface="Calibri"/>
                <a:sym typeface="Calibri"/>
              </a:rPr>
              <a:t>ne identical, reproducible environment on every machine</a:t>
            </a:r>
            <a:endParaRPr b="0" i="0" sz="1800">
              <a:solidFill>
                <a:srgbClr val="16181D"/>
              </a:solidFill>
              <a:latin typeface="Calibri"/>
              <a:ea typeface="Calibri"/>
              <a:cs typeface="Calibri"/>
              <a:sym typeface="Calibri"/>
            </a:endParaRPr>
          </a:p>
        </p:txBody>
      </p:sp>
      <p:sp>
        <p:nvSpPr>
          <p:cNvPr id="287" name="Google Shape;287;p29"/>
          <p:cNvSpPr/>
          <p:nvPr/>
        </p:nvSpPr>
        <p:spPr>
          <a:xfrm>
            <a:off x="777240" y="4214117"/>
            <a:ext cx="3291900" cy="16917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500">
                <a:solidFill>
                  <a:srgbClr val="B8860B"/>
                </a:solidFill>
                <a:latin typeface="Calibri"/>
                <a:ea typeface="Calibri"/>
                <a:cs typeface="Calibri"/>
                <a:sym typeface="Calibri"/>
              </a:rPr>
              <a:t>Reproducible image</a:t>
            </a:r>
            <a:endParaRPr/>
          </a:p>
          <a:p>
            <a:pPr indent="0" lvl="0" marL="0" marR="0" rtl="0" algn="l">
              <a:lnSpc>
                <a:spcPct val="106000"/>
              </a:lnSpc>
              <a:spcBef>
                <a:spcPts val="500"/>
              </a:spcBef>
              <a:spcAft>
                <a:spcPts val="0"/>
              </a:spcAft>
              <a:buNone/>
            </a:pPr>
            <a:r>
              <a:rPr b="0" i="0" lang="en-US" sz="1400">
                <a:solidFill>
                  <a:srgbClr val="16181D"/>
                </a:solidFill>
                <a:latin typeface="Calibri"/>
                <a:ea typeface="Calibri"/>
                <a:cs typeface="Calibri"/>
                <a:sym typeface="Calibri"/>
              </a:rPr>
              <a:t>The application is compiled inside the image and only the runtime is shipped, so the build never depends on what is installed on the developer's machine.</a:t>
            </a:r>
            <a:endParaRPr b="0" i="0" sz="1400">
              <a:solidFill>
                <a:srgbClr val="16181D"/>
              </a:solidFill>
              <a:latin typeface="Calibri"/>
              <a:ea typeface="Calibri"/>
              <a:cs typeface="Calibri"/>
              <a:sym typeface="Calibri"/>
            </a:endParaRPr>
          </a:p>
        </p:txBody>
      </p:sp>
      <p:sp>
        <p:nvSpPr>
          <p:cNvPr id="288" name="Google Shape;288;p29"/>
          <p:cNvSpPr/>
          <p:nvPr/>
        </p:nvSpPr>
        <p:spPr>
          <a:xfrm>
            <a:off x="4434840" y="4214117"/>
            <a:ext cx="3291900" cy="16917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500">
                <a:solidFill>
                  <a:srgbClr val="B8860B"/>
                </a:solidFill>
                <a:latin typeface="Calibri"/>
                <a:ea typeface="Calibri"/>
                <a:cs typeface="Calibri"/>
                <a:sym typeface="Calibri"/>
              </a:rPr>
              <a:t>Isolated services</a:t>
            </a:r>
            <a:endParaRPr/>
          </a:p>
          <a:p>
            <a:pPr indent="0" lvl="0" marL="0" marR="0" rtl="0" algn="l">
              <a:lnSpc>
                <a:spcPct val="106000"/>
              </a:lnSpc>
              <a:spcBef>
                <a:spcPts val="500"/>
              </a:spcBef>
              <a:spcAft>
                <a:spcPts val="0"/>
              </a:spcAft>
              <a:buNone/>
            </a:pPr>
            <a:r>
              <a:rPr b="0" i="0" lang="en-US" sz="1400">
                <a:solidFill>
                  <a:srgbClr val="16181D"/>
                </a:solidFill>
                <a:latin typeface="Calibri"/>
                <a:ea typeface="Calibri"/>
                <a:cs typeface="Calibri"/>
                <a:sym typeface="Calibri"/>
              </a:rPr>
              <a:t>Application server and database run as two separate containers on a private network, each with its own health check and restart policy.</a:t>
            </a:r>
            <a:endParaRPr b="0" i="0" sz="1400">
              <a:solidFill>
                <a:srgbClr val="16181D"/>
              </a:solidFill>
              <a:latin typeface="Calibri"/>
              <a:ea typeface="Calibri"/>
              <a:cs typeface="Calibri"/>
              <a:sym typeface="Calibri"/>
            </a:endParaRPr>
          </a:p>
        </p:txBody>
      </p:sp>
      <p:sp>
        <p:nvSpPr>
          <p:cNvPr id="289" name="Google Shape;289;p29"/>
          <p:cNvSpPr/>
          <p:nvPr/>
        </p:nvSpPr>
        <p:spPr>
          <a:xfrm>
            <a:off x="8092440" y="4214117"/>
            <a:ext cx="3291900" cy="16917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500">
                <a:solidFill>
                  <a:srgbClr val="B8860B"/>
                </a:solidFill>
                <a:latin typeface="Calibri"/>
                <a:ea typeface="Calibri"/>
                <a:cs typeface="Calibri"/>
                <a:sym typeface="Calibri"/>
              </a:rPr>
              <a:t>Built by the pipeline</a:t>
            </a:r>
            <a:endParaRPr/>
          </a:p>
          <a:p>
            <a:pPr indent="0" lvl="0" marL="0" marR="0" rtl="0" algn="l">
              <a:lnSpc>
                <a:spcPct val="106000"/>
              </a:lnSpc>
              <a:spcBef>
                <a:spcPts val="500"/>
              </a:spcBef>
              <a:spcAft>
                <a:spcPts val="0"/>
              </a:spcAft>
              <a:buNone/>
            </a:pPr>
            <a:r>
              <a:rPr b="0" i="0" lang="en-US" sz="1400">
                <a:solidFill>
                  <a:srgbClr val="16181D"/>
                </a:solidFill>
                <a:latin typeface="Calibri"/>
                <a:ea typeface="Calibri"/>
                <a:cs typeface="Calibri"/>
                <a:sym typeface="Calibri"/>
              </a:rPr>
              <a:t>The delivery workflow builds the image for both amd64 and arm64 and publishes it to Docker Hub on every push to main.</a:t>
            </a:r>
            <a:endParaRPr b="0" i="0" sz="1400">
              <a:solidFill>
                <a:srgbClr val="16181D"/>
              </a:solidFill>
              <a:latin typeface="Calibri"/>
              <a:ea typeface="Calibri"/>
              <a:cs typeface="Calibri"/>
              <a:sym typeface="Calibri"/>
            </a:endParaRPr>
          </a:p>
        </p:txBody>
      </p:sp>
      <p:pic>
        <p:nvPicPr>
          <p:cNvPr descr="Docker full logo transparent PNG - StickPNG" id="290" name="Google Shape;290;p29"/>
          <p:cNvPicPr preferRelativeResize="0"/>
          <p:nvPr/>
        </p:nvPicPr>
        <p:blipFill rotWithShape="1">
          <a:blip r:embed="rId3">
            <a:alphaModFix/>
          </a:blip>
          <a:srcRect b="0" l="0" r="0" t="0"/>
          <a:stretch/>
        </p:blipFill>
        <p:spPr>
          <a:xfrm>
            <a:off x="777240" y="2810988"/>
            <a:ext cx="1256511" cy="125651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nvSpPr>
        <p:spPr>
          <a:xfrm>
            <a:off x="777240" y="438912"/>
            <a:ext cx="10607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4 · DOCKER ENVIRONMENT</a:t>
            </a:r>
            <a:endParaRPr/>
          </a:p>
        </p:txBody>
      </p:sp>
      <p:sp>
        <p:nvSpPr>
          <p:cNvPr id="296" name="Google Shape;296;p30"/>
          <p:cNvSpPr txBox="1"/>
          <p:nvPr/>
        </p:nvSpPr>
        <p:spPr>
          <a:xfrm>
            <a:off x="777240" y="749808"/>
            <a:ext cx="10607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Inside the image</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build and runtime</a:t>
            </a:r>
            <a:endParaRPr/>
          </a:p>
        </p:txBody>
      </p:sp>
      <p:sp>
        <p:nvSpPr>
          <p:cNvPr id="297" name="Google Shape;297;p30"/>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30"/>
          <p:cNvSpPr txBox="1"/>
          <p:nvPr/>
        </p:nvSpPr>
        <p:spPr>
          <a:xfrm>
            <a:off x="777240" y="1783080"/>
            <a:ext cx="10607100" cy="3657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None/>
            </a:pPr>
            <a:r>
              <a:rPr b="1" i="0" lang="en-US" sz="1350">
                <a:solidFill>
                  <a:srgbClr val="B8860B"/>
                </a:solidFill>
                <a:latin typeface="Calibri"/>
                <a:ea typeface="Calibri"/>
                <a:cs typeface="Calibri"/>
                <a:sym typeface="Calibri"/>
              </a:rPr>
              <a:t>▸  </a:t>
            </a:r>
            <a:r>
              <a:rPr lang="en-US" sz="1600">
                <a:solidFill>
                  <a:srgbClr val="000000"/>
                </a:solidFill>
                <a:latin typeface="Calibri"/>
                <a:ea typeface="Calibri"/>
                <a:cs typeface="Calibri"/>
                <a:sym typeface="Calibri"/>
              </a:rPr>
              <a:t>The image is built in two stages: the </a:t>
            </a:r>
            <a:r>
              <a:rPr i="0" lang="en-US" sz="1600">
                <a:solidFill>
                  <a:srgbClr val="000000"/>
                </a:solidFill>
                <a:latin typeface="Calibri"/>
                <a:ea typeface="Calibri"/>
                <a:cs typeface="Calibri"/>
                <a:sym typeface="Calibri"/>
              </a:rPr>
              <a:t>application is compiled in the first</a:t>
            </a:r>
            <a:r>
              <a:rPr lang="en-US" sz="1600">
                <a:solidFill>
                  <a:srgbClr val="000000"/>
                </a:solidFill>
                <a:latin typeface="Calibri"/>
                <a:ea typeface="Calibri"/>
                <a:cs typeface="Calibri"/>
                <a:sym typeface="Calibri"/>
              </a:rPr>
              <a:t>, </a:t>
            </a:r>
            <a:r>
              <a:rPr i="0" lang="en-US" sz="1600">
                <a:solidFill>
                  <a:srgbClr val="000000"/>
                </a:solidFill>
                <a:latin typeface="Calibri"/>
                <a:ea typeface="Calibri"/>
                <a:cs typeface="Calibri"/>
                <a:sym typeface="Calibri"/>
              </a:rPr>
              <a:t>and only what is needed to run it is carried into the second</a:t>
            </a:r>
            <a:r>
              <a:rPr lang="en-US" sz="1600">
                <a:solidFill>
                  <a:srgbClr val="000000"/>
                </a:solidFill>
                <a:latin typeface="Calibri"/>
                <a:ea typeface="Calibri"/>
                <a:cs typeface="Calibri"/>
                <a:sym typeface="Calibri"/>
              </a:rPr>
              <a:t> so the compiler and the build tools never end up in the shipped image</a:t>
            </a:r>
            <a:r>
              <a:rPr i="0" lang="en-US" sz="1600">
                <a:solidFill>
                  <a:srgbClr val="000000"/>
                </a:solidFill>
                <a:latin typeface="Calibri"/>
                <a:ea typeface="Calibri"/>
                <a:cs typeface="Calibri"/>
                <a:sym typeface="Calibri"/>
              </a:rPr>
              <a:t>.</a:t>
            </a:r>
            <a:endParaRPr/>
          </a:p>
        </p:txBody>
      </p:sp>
      <p:sp>
        <p:nvSpPr>
          <p:cNvPr id="299" name="Google Shape;299;p30"/>
          <p:cNvSpPr/>
          <p:nvPr/>
        </p:nvSpPr>
        <p:spPr>
          <a:xfrm>
            <a:off x="777240" y="2680694"/>
            <a:ext cx="4768200" cy="21174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400">
                <a:solidFill>
                  <a:schemeClr val="dk1"/>
                </a:solidFill>
                <a:latin typeface="Calibri"/>
                <a:ea typeface="Calibri"/>
                <a:cs typeface="Calibri"/>
                <a:sym typeface="Calibri"/>
              </a:rPr>
              <a:t>STAGE 1  ·  BUILD</a:t>
            </a:r>
            <a:endParaRPr b="1" i="0" sz="1400">
              <a:solidFill>
                <a:schemeClr val="dk1"/>
              </a:solidFill>
              <a:latin typeface="Calibri"/>
              <a:ea typeface="Calibri"/>
              <a:cs typeface="Calibri"/>
              <a:sym typeface="Calibri"/>
            </a:endParaRPr>
          </a:p>
          <a:p>
            <a:pPr indent="0" lvl="0" marL="0" marR="0" rtl="0" algn="l">
              <a:lnSpc>
                <a:spcPct val="106000"/>
              </a:lnSpc>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a:t>
            </a:r>
            <a:r>
              <a:rPr b="0" i="0" lang="en-US" sz="1400">
                <a:solidFill>
                  <a:schemeClr val="dk1"/>
                </a:solidFill>
                <a:latin typeface="Calibri"/>
                <a:ea typeface="Calibri"/>
                <a:cs typeface="Calibri"/>
                <a:sym typeface="Calibri"/>
              </a:rPr>
              <a:t>Maven </a:t>
            </a:r>
            <a:r>
              <a:rPr lang="en-US" sz="1400">
                <a:solidFill>
                  <a:schemeClr val="dk1"/>
                </a:solidFill>
                <a:latin typeface="Calibri"/>
                <a:ea typeface="Calibri"/>
                <a:cs typeface="Calibri"/>
                <a:sym typeface="Calibri"/>
              </a:rPr>
              <a:t>3.9 compiles </a:t>
            </a:r>
            <a:r>
              <a:rPr b="0" i="0" lang="en-US" sz="1400">
                <a:solidFill>
                  <a:schemeClr val="dk1"/>
                </a:solidFill>
                <a:latin typeface="Calibri"/>
                <a:ea typeface="Calibri"/>
                <a:cs typeface="Calibri"/>
                <a:sym typeface="Calibri"/>
              </a:rPr>
              <a:t>the application </a:t>
            </a:r>
            <a:r>
              <a:rPr lang="en-US" sz="1400">
                <a:solidFill>
                  <a:schemeClr val="dk1"/>
                </a:solidFill>
                <a:latin typeface="Calibri"/>
                <a:ea typeface="Calibri"/>
                <a:cs typeface="Calibri"/>
                <a:sym typeface="Calibri"/>
              </a:rPr>
              <a:t>and packages it into a single deployable file</a:t>
            </a:r>
            <a:r>
              <a:rPr b="0" i="0" lang="en-US" sz="1400">
                <a:solidFill>
                  <a:schemeClr val="dk1"/>
                </a:solidFill>
                <a:latin typeface="Calibri"/>
                <a:ea typeface="Calibri"/>
                <a:cs typeface="Calibri"/>
                <a:sym typeface="Calibri"/>
              </a:rPr>
              <a:t>.</a:t>
            </a:r>
            <a:endParaRPr b="0" i="0" sz="1400">
              <a:solidFill>
                <a:schemeClr val="dk1"/>
              </a:solidFill>
              <a:latin typeface="Calibri"/>
              <a:ea typeface="Calibri"/>
              <a:cs typeface="Calibri"/>
              <a:sym typeface="Calibri"/>
            </a:endParaRPr>
          </a:p>
          <a:p>
            <a:pPr indent="0" lvl="0" marL="0" marR="0" rtl="0" algn="l">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The dependencies are downloaded before the sources are copied, so they are re-used from cache as long as the dependency list doesn't change.</a:t>
            </a:r>
            <a:endParaRPr/>
          </a:p>
          <a:p>
            <a:pPr indent="0" lvl="0" marL="0" marR="0" rtl="0" algn="l">
              <a:spcBef>
                <a:spcPts val="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Nothing needs to be installed on the developer's machine: no JDK, no Maven.</a:t>
            </a:r>
            <a:endParaRPr sz="1400">
              <a:solidFill>
                <a:schemeClr val="dk1"/>
              </a:solidFill>
              <a:latin typeface="Calibri"/>
              <a:ea typeface="Calibri"/>
              <a:cs typeface="Calibri"/>
              <a:sym typeface="Calibri"/>
            </a:endParaRPr>
          </a:p>
          <a:p>
            <a:pPr indent="0" lvl="0" marL="0" marR="0" rtl="0" algn="l">
              <a:lnSpc>
                <a:spcPct val="106000"/>
              </a:lnSpc>
              <a:spcBef>
                <a:spcPts val="0"/>
              </a:spcBef>
              <a:spcAft>
                <a:spcPts val="0"/>
              </a:spcAft>
              <a:buNone/>
            </a:pPr>
            <a:r>
              <a:t/>
            </a:r>
            <a:endParaRPr sz="1300">
              <a:solidFill>
                <a:srgbClr val="5B6270"/>
              </a:solidFill>
              <a:latin typeface="Calibri"/>
              <a:ea typeface="Calibri"/>
              <a:cs typeface="Calibri"/>
              <a:sym typeface="Calibri"/>
            </a:endParaRPr>
          </a:p>
          <a:p>
            <a:pPr indent="0" lvl="0" marL="0" marR="0" rtl="0" algn="l">
              <a:lnSpc>
                <a:spcPct val="106000"/>
              </a:lnSpc>
              <a:spcBef>
                <a:spcPts val="280"/>
              </a:spcBef>
              <a:spcAft>
                <a:spcPts val="0"/>
              </a:spcAft>
              <a:buNone/>
            </a:pPr>
            <a:r>
              <a:t/>
            </a:r>
            <a:endParaRPr sz="1300">
              <a:solidFill>
                <a:srgbClr val="5B6270"/>
              </a:solidFill>
              <a:latin typeface="Calibri"/>
              <a:ea typeface="Calibri"/>
              <a:cs typeface="Calibri"/>
              <a:sym typeface="Calibri"/>
            </a:endParaRPr>
          </a:p>
        </p:txBody>
      </p:sp>
      <p:cxnSp>
        <p:nvCxnSpPr>
          <p:cNvPr id="300" name="Google Shape;300;p30"/>
          <p:cNvCxnSpPr/>
          <p:nvPr/>
        </p:nvCxnSpPr>
        <p:spPr>
          <a:xfrm>
            <a:off x="5687568" y="3517290"/>
            <a:ext cx="749700" cy="0"/>
          </a:xfrm>
          <a:prstGeom prst="straightConnector1">
            <a:avLst/>
          </a:prstGeom>
          <a:noFill/>
          <a:ln cap="flat" cmpd="sng" w="22225">
            <a:solidFill>
              <a:srgbClr val="B8860B"/>
            </a:solidFill>
            <a:prstDash val="solid"/>
            <a:round/>
            <a:headEnd len="sm" w="sm" type="none"/>
            <a:tailEnd len="med" w="med" type="triangle"/>
          </a:ln>
        </p:spPr>
      </p:cxnSp>
      <p:sp>
        <p:nvSpPr>
          <p:cNvPr id="301" name="Google Shape;301;p30"/>
          <p:cNvSpPr txBox="1"/>
          <p:nvPr/>
        </p:nvSpPr>
        <p:spPr>
          <a:xfrm>
            <a:off x="5420627" y="3212757"/>
            <a:ext cx="1280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n-US" sz="1000">
                <a:solidFill>
                  <a:srgbClr val="5B6270"/>
                </a:solidFill>
                <a:latin typeface="Calibri"/>
                <a:ea typeface="Calibri"/>
                <a:cs typeface="Calibri"/>
                <a:sym typeface="Calibri"/>
              </a:rPr>
              <a:t>rated-app.war</a:t>
            </a:r>
            <a:endParaRPr/>
          </a:p>
        </p:txBody>
      </p:sp>
      <p:sp>
        <p:nvSpPr>
          <p:cNvPr id="302" name="Google Shape;302;p30"/>
          <p:cNvSpPr txBox="1"/>
          <p:nvPr/>
        </p:nvSpPr>
        <p:spPr>
          <a:xfrm>
            <a:off x="777936" y="5108577"/>
            <a:ext cx="10607400" cy="58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u="sng">
                <a:solidFill>
                  <a:schemeClr val="dk1"/>
                </a:solidFill>
                <a:latin typeface="Calibri"/>
                <a:ea typeface="Calibri"/>
                <a:cs typeface="Calibri"/>
                <a:sym typeface="Calibri"/>
              </a:rPr>
              <a:t>The database credentials are never written in the code or baked into the image but they are injected when the container starts.</a:t>
            </a:r>
            <a:endParaRPr/>
          </a:p>
        </p:txBody>
      </p:sp>
      <p:sp>
        <p:nvSpPr>
          <p:cNvPr id="303" name="Google Shape;303;p30"/>
          <p:cNvSpPr/>
          <p:nvPr/>
        </p:nvSpPr>
        <p:spPr>
          <a:xfrm>
            <a:off x="6630479" y="2680693"/>
            <a:ext cx="4755000" cy="21174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400">
                <a:solidFill>
                  <a:schemeClr val="dk1"/>
                </a:solidFill>
                <a:latin typeface="Calibri"/>
                <a:ea typeface="Calibri"/>
                <a:cs typeface="Calibri"/>
                <a:sym typeface="Calibri"/>
              </a:rPr>
              <a:t>STAGE </a:t>
            </a:r>
            <a:r>
              <a:rPr b="1" lang="en-US" sz="1400">
                <a:solidFill>
                  <a:schemeClr val="dk1"/>
                </a:solidFill>
                <a:latin typeface="Calibri"/>
                <a:ea typeface="Calibri"/>
                <a:cs typeface="Calibri"/>
                <a:sym typeface="Calibri"/>
              </a:rPr>
              <a:t>2  </a:t>
            </a:r>
            <a:r>
              <a:rPr b="1" i="0" lang="en-US" sz="1400">
                <a:solidFill>
                  <a:schemeClr val="dk1"/>
                </a:solidFill>
                <a:latin typeface="Calibri"/>
                <a:ea typeface="Calibri"/>
                <a:cs typeface="Calibri"/>
                <a:sym typeface="Calibri"/>
              </a:rPr>
              <a:t>· </a:t>
            </a:r>
            <a:r>
              <a:rPr b="1" lang="en-US" sz="1400">
                <a:solidFill>
                  <a:schemeClr val="dk1"/>
                </a:solidFill>
                <a:latin typeface="Calibri"/>
                <a:ea typeface="Calibri"/>
                <a:cs typeface="Calibri"/>
                <a:sym typeface="Calibri"/>
              </a:rPr>
              <a:t>RUNTIME</a:t>
            </a:r>
            <a:endParaRPr b="1" i="0" sz="1400">
              <a:solidFill>
                <a:schemeClr val="dk1"/>
              </a:solidFill>
              <a:latin typeface="Calibri"/>
              <a:ea typeface="Calibri"/>
              <a:cs typeface="Calibri"/>
              <a:sym typeface="Calibri"/>
            </a:endParaRPr>
          </a:p>
          <a:p>
            <a:pPr indent="0" lvl="0" marL="0" marR="0" rtl="0" algn="l">
              <a:lnSpc>
                <a:spcPct val="106000"/>
              </a:lnSpc>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a:t>
            </a:r>
            <a:r>
              <a:rPr lang="en-US" sz="1400">
                <a:solidFill>
                  <a:srgbClr val="16181D"/>
                </a:solidFill>
                <a:latin typeface="Calibri"/>
                <a:ea typeface="Calibri"/>
                <a:cs typeface="Calibri"/>
                <a:sym typeface="Calibri"/>
              </a:rPr>
              <a:t>Only </a:t>
            </a:r>
            <a:r>
              <a:rPr b="0" i="0" lang="en-US" sz="1400">
                <a:solidFill>
                  <a:srgbClr val="16181D"/>
                </a:solidFill>
                <a:latin typeface="Calibri"/>
                <a:ea typeface="Calibri"/>
                <a:cs typeface="Calibri"/>
                <a:sym typeface="Calibri"/>
              </a:rPr>
              <a:t>the </a:t>
            </a:r>
            <a:r>
              <a:rPr lang="en-US" sz="1400">
                <a:solidFill>
                  <a:srgbClr val="16181D"/>
                </a:solidFill>
                <a:latin typeface="Calibri"/>
                <a:ea typeface="Calibri"/>
                <a:cs typeface="Calibri"/>
                <a:sym typeface="Calibri"/>
              </a:rPr>
              <a:t>packaged </a:t>
            </a:r>
            <a:r>
              <a:rPr b="0" i="0" lang="en-US" sz="1400">
                <a:solidFill>
                  <a:srgbClr val="16181D"/>
                </a:solidFill>
                <a:latin typeface="Calibri"/>
                <a:ea typeface="Calibri"/>
                <a:cs typeface="Calibri"/>
                <a:sym typeface="Calibri"/>
              </a:rPr>
              <a:t>application </a:t>
            </a:r>
            <a:r>
              <a:rPr lang="en-US" sz="1400">
                <a:solidFill>
                  <a:srgbClr val="16181D"/>
                </a:solidFill>
                <a:latin typeface="Calibri"/>
                <a:ea typeface="Calibri"/>
                <a:cs typeface="Calibri"/>
                <a:sym typeface="Calibri"/>
              </a:rPr>
              <a:t>crosses over from the first stage</a:t>
            </a:r>
            <a:r>
              <a:rPr b="0" i="0" lang="en-US" sz="1400">
                <a:solidFill>
                  <a:srgbClr val="16181D"/>
                </a:solidFill>
                <a:latin typeface="Calibri"/>
                <a:ea typeface="Calibri"/>
                <a:cs typeface="Calibri"/>
                <a:sym typeface="Calibri"/>
              </a:rPr>
              <a:t>.</a:t>
            </a:r>
            <a:endParaRPr b="0" i="0" sz="1400">
              <a:solidFill>
                <a:schemeClr val="lt1"/>
              </a:solidFill>
              <a:latin typeface="Calibri"/>
              <a:ea typeface="Calibri"/>
              <a:cs typeface="Calibri"/>
              <a:sym typeface="Calibri"/>
            </a:endParaRPr>
          </a:p>
          <a:p>
            <a:pPr indent="0" lvl="0" marL="0" marR="0" rtl="0" algn="l">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T</a:t>
            </a:r>
            <a:r>
              <a:rPr lang="en-US" sz="1400">
                <a:solidFill>
                  <a:srgbClr val="16181D"/>
                </a:solidFill>
                <a:latin typeface="Calibri"/>
                <a:ea typeface="Calibri"/>
                <a:cs typeface="Calibri"/>
                <a:sym typeface="Calibri"/>
              </a:rPr>
              <a:t>omcat's default applications are removed, so the image contains nothing but what the project actually needs</a:t>
            </a:r>
            <a:r>
              <a:rPr lang="en-US" sz="14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Nothing needs to be installed on the developer's machine: no JDK, no Maven.</a:t>
            </a:r>
            <a:endParaRPr sz="1400">
              <a:solidFill>
                <a:schemeClr val="dk1"/>
              </a:solidFill>
              <a:latin typeface="Calibri"/>
              <a:ea typeface="Calibri"/>
              <a:cs typeface="Calibri"/>
              <a:sym typeface="Calibri"/>
            </a:endParaRPr>
          </a:p>
          <a:p>
            <a:pPr indent="0" lvl="0" marL="0" marR="0" rtl="0" algn="l">
              <a:lnSpc>
                <a:spcPct val="106000"/>
              </a:lnSpc>
              <a:spcBef>
                <a:spcPts val="0"/>
              </a:spcBef>
              <a:spcAft>
                <a:spcPts val="0"/>
              </a:spcAft>
              <a:buNone/>
            </a:pPr>
            <a:r>
              <a:t/>
            </a:r>
            <a:endParaRPr sz="1300">
              <a:solidFill>
                <a:srgbClr val="5B6270"/>
              </a:solidFill>
              <a:latin typeface="Calibri"/>
              <a:ea typeface="Calibri"/>
              <a:cs typeface="Calibri"/>
              <a:sym typeface="Calibri"/>
            </a:endParaRPr>
          </a:p>
          <a:p>
            <a:pPr indent="0" lvl="0" marL="0" marR="0" rtl="0" algn="l">
              <a:lnSpc>
                <a:spcPct val="106000"/>
              </a:lnSpc>
              <a:spcBef>
                <a:spcPts val="280"/>
              </a:spcBef>
              <a:spcAft>
                <a:spcPts val="0"/>
              </a:spcAft>
              <a:buNone/>
            </a:pPr>
            <a:r>
              <a:t/>
            </a:r>
            <a:endParaRPr sz="1300">
              <a:solidFill>
                <a:srgbClr val="5B627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p31"/>
          <p:cNvSpPr txBox="1"/>
          <p:nvPr/>
        </p:nvSpPr>
        <p:spPr>
          <a:xfrm>
            <a:off x="777240" y="438912"/>
            <a:ext cx="10607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4 · DOCKER ENVIRONMENT</a:t>
            </a:r>
            <a:endParaRPr/>
          </a:p>
        </p:txBody>
      </p:sp>
      <p:sp>
        <p:nvSpPr>
          <p:cNvPr id="309" name="Google Shape;309;p31"/>
          <p:cNvSpPr txBox="1"/>
          <p:nvPr/>
        </p:nvSpPr>
        <p:spPr>
          <a:xfrm>
            <a:off x="777240" y="749808"/>
            <a:ext cx="10607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Inside the image</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build and runtime</a:t>
            </a:r>
            <a:endParaRPr/>
          </a:p>
        </p:txBody>
      </p:sp>
      <p:sp>
        <p:nvSpPr>
          <p:cNvPr id="310" name="Google Shape;310;p31"/>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31"/>
          <p:cNvSpPr txBox="1"/>
          <p:nvPr/>
        </p:nvSpPr>
        <p:spPr>
          <a:xfrm>
            <a:off x="777240" y="1783080"/>
            <a:ext cx="10607100" cy="3657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None/>
            </a:pPr>
            <a:r>
              <a:rPr b="1" i="0" lang="en-US" sz="1350">
                <a:solidFill>
                  <a:srgbClr val="B8860B"/>
                </a:solidFill>
                <a:latin typeface="Calibri"/>
                <a:ea typeface="Calibri"/>
                <a:cs typeface="Calibri"/>
                <a:sym typeface="Calibri"/>
              </a:rPr>
              <a:t>▸  </a:t>
            </a:r>
            <a:r>
              <a:rPr lang="en-US" sz="1600">
                <a:solidFill>
                  <a:srgbClr val="000000"/>
                </a:solidFill>
                <a:latin typeface="Calibri"/>
                <a:ea typeface="Calibri"/>
                <a:cs typeface="Calibri"/>
                <a:sym typeface="Calibri"/>
              </a:rPr>
              <a:t>The image is built in two stages: the </a:t>
            </a:r>
            <a:r>
              <a:rPr i="0" lang="en-US" sz="1600">
                <a:solidFill>
                  <a:srgbClr val="000000"/>
                </a:solidFill>
                <a:latin typeface="Calibri"/>
                <a:ea typeface="Calibri"/>
                <a:cs typeface="Calibri"/>
                <a:sym typeface="Calibri"/>
              </a:rPr>
              <a:t>application is compiled in the first</a:t>
            </a:r>
            <a:r>
              <a:rPr lang="en-US" sz="1600">
                <a:solidFill>
                  <a:srgbClr val="000000"/>
                </a:solidFill>
                <a:latin typeface="Calibri"/>
                <a:ea typeface="Calibri"/>
                <a:cs typeface="Calibri"/>
                <a:sym typeface="Calibri"/>
              </a:rPr>
              <a:t>, </a:t>
            </a:r>
            <a:r>
              <a:rPr i="0" lang="en-US" sz="1600">
                <a:solidFill>
                  <a:srgbClr val="000000"/>
                </a:solidFill>
                <a:latin typeface="Calibri"/>
                <a:ea typeface="Calibri"/>
                <a:cs typeface="Calibri"/>
                <a:sym typeface="Calibri"/>
              </a:rPr>
              <a:t>and only what is needed to run it is carried into the second</a:t>
            </a:r>
            <a:r>
              <a:rPr lang="en-US" sz="1600">
                <a:solidFill>
                  <a:srgbClr val="000000"/>
                </a:solidFill>
                <a:latin typeface="Calibri"/>
                <a:ea typeface="Calibri"/>
                <a:cs typeface="Calibri"/>
                <a:sym typeface="Calibri"/>
              </a:rPr>
              <a:t> so the compiler and the build tools never end up in the shipped image</a:t>
            </a:r>
            <a:r>
              <a:rPr i="0" lang="en-US" sz="1600">
                <a:solidFill>
                  <a:srgbClr val="000000"/>
                </a:solidFill>
                <a:latin typeface="Calibri"/>
                <a:ea typeface="Calibri"/>
                <a:cs typeface="Calibri"/>
                <a:sym typeface="Calibri"/>
              </a:rPr>
              <a:t>.</a:t>
            </a:r>
            <a:endParaRPr/>
          </a:p>
        </p:txBody>
      </p:sp>
      <p:sp>
        <p:nvSpPr>
          <p:cNvPr id="312" name="Google Shape;312;p31"/>
          <p:cNvSpPr/>
          <p:nvPr/>
        </p:nvSpPr>
        <p:spPr>
          <a:xfrm>
            <a:off x="763872" y="2420010"/>
            <a:ext cx="4768200" cy="21174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400">
                <a:solidFill>
                  <a:schemeClr val="dk1"/>
                </a:solidFill>
                <a:latin typeface="Calibri"/>
                <a:ea typeface="Calibri"/>
                <a:cs typeface="Calibri"/>
                <a:sym typeface="Calibri"/>
              </a:rPr>
              <a:t>STAGE 1  ·  BUILD</a:t>
            </a:r>
            <a:endParaRPr b="1" i="0" sz="1400">
              <a:solidFill>
                <a:schemeClr val="dk1"/>
              </a:solidFill>
              <a:latin typeface="Calibri"/>
              <a:ea typeface="Calibri"/>
              <a:cs typeface="Calibri"/>
              <a:sym typeface="Calibri"/>
            </a:endParaRPr>
          </a:p>
          <a:p>
            <a:pPr indent="0" lvl="0" marL="0" marR="0" rtl="0" algn="l">
              <a:lnSpc>
                <a:spcPct val="106000"/>
              </a:lnSpc>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a:t>
            </a:r>
            <a:r>
              <a:rPr b="0" i="0" lang="en-US" sz="1400">
                <a:solidFill>
                  <a:schemeClr val="dk1"/>
                </a:solidFill>
                <a:latin typeface="Calibri"/>
                <a:ea typeface="Calibri"/>
                <a:cs typeface="Calibri"/>
                <a:sym typeface="Calibri"/>
              </a:rPr>
              <a:t>Maven </a:t>
            </a:r>
            <a:r>
              <a:rPr lang="en-US" sz="1400">
                <a:solidFill>
                  <a:schemeClr val="dk1"/>
                </a:solidFill>
                <a:latin typeface="Calibri"/>
                <a:ea typeface="Calibri"/>
                <a:cs typeface="Calibri"/>
                <a:sym typeface="Calibri"/>
              </a:rPr>
              <a:t>3.9 compiles </a:t>
            </a:r>
            <a:r>
              <a:rPr b="0" i="0" lang="en-US" sz="1400">
                <a:solidFill>
                  <a:schemeClr val="dk1"/>
                </a:solidFill>
                <a:latin typeface="Calibri"/>
                <a:ea typeface="Calibri"/>
                <a:cs typeface="Calibri"/>
                <a:sym typeface="Calibri"/>
              </a:rPr>
              <a:t>the application </a:t>
            </a:r>
            <a:r>
              <a:rPr lang="en-US" sz="1400">
                <a:solidFill>
                  <a:schemeClr val="dk1"/>
                </a:solidFill>
                <a:latin typeface="Calibri"/>
                <a:ea typeface="Calibri"/>
                <a:cs typeface="Calibri"/>
                <a:sym typeface="Calibri"/>
              </a:rPr>
              <a:t>and packages it into a single deployable file</a:t>
            </a:r>
            <a:r>
              <a:rPr b="0" i="0" lang="en-US" sz="1400">
                <a:solidFill>
                  <a:schemeClr val="dk1"/>
                </a:solidFill>
                <a:latin typeface="Calibri"/>
                <a:ea typeface="Calibri"/>
                <a:cs typeface="Calibri"/>
                <a:sym typeface="Calibri"/>
              </a:rPr>
              <a:t>.</a:t>
            </a:r>
            <a:endParaRPr b="0" i="0" sz="1400">
              <a:solidFill>
                <a:schemeClr val="dk1"/>
              </a:solidFill>
              <a:latin typeface="Calibri"/>
              <a:ea typeface="Calibri"/>
              <a:cs typeface="Calibri"/>
              <a:sym typeface="Calibri"/>
            </a:endParaRPr>
          </a:p>
          <a:p>
            <a:pPr indent="0" lvl="0" marL="0" marR="0" rtl="0" algn="l">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The dependencies are downloaded before the sources are copied, so they are re-used from cache as long as the dependency list doesn't change.</a:t>
            </a:r>
            <a:endParaRPr/>
          </a:p>
          <a:p>
            <a:pPr indent="0" lvl="0" marL="0" marR="0" rtl="0" algn="l">
              <a:spcBef>
                <a:spcPts val="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Nothing needs to be installed on the developer's machine: no JDK, no Maven.</a:t>
            </a:r>
            <a:endParaRPr sz="1400">
              <a:solidFill>
                <a:schemeClr val="dk1"/>
              </a:solidFill>
              <a:latin typeface="Calibri"/>
              <a:ea typeface="Calibri"/>
              <a:cs typeface="Calibri"/>
              <a:sym typeface="Calibri"/>
            </a:endParaRPr>
          </a:p>
          <a:p>
            <a:pPr indent="0" lvl="0" marL="0" marR="0" rtl="0" algn="l">
              <a:lnSpc>
                <a:spcPct val="106000"/>
              </a:lnSpc>
              <a:spcBef>
                <a:spcPts val="0"/>
              </a:spcBef>
              <a:spcAft>
                <a:spcPts val="0"/>
              </a:spcAft>
              <a:buNone/>
            </a:pPr>
            <a:r>
              <a:t/>
            </a:r>
            <a:endParaRPr sz="1300">
              <a:solidFill>
                <a:srgbClr val="5B6270"/>
              </a:solidFill>
              <a:latin typeface="Calibri"/>
              <a:ea typeface="Calibri"/>
              <a:cs typeface="Calibri"/>
              <a:sym typeface="Calibri"/>
            </a:endParaRPr>
          </a:p>
          <a:p>
            <a:pPr indent="0" lvl="0" marL="0" marR="0" rtl="0" algn="l">
              <a:lnSpc>
                <a:spcPct val="106000"/>
              </a:lnSpc>
              <a:spcBef>
                <a:spcPts val="280"/>
              </a:spcBef>
              <a:spcAft>
                <a:spcPts val="0"/>
              </a:spcAft>
              <a:buNone/>
            </a:pPr>
            <a:r>
              <a:t/>
            </a:r>
            <a:endParaRPr sz="1300">
              <a:solidFill>
                <a:srgbClr val="5B6270"/>
              </a:solidFill>
              <a:latin typeface="Calibri"/>
              <a:ea typeface="Calibri"/>
              <a:cs typeface="Calibri"/>
              <a:sym typeface="Calibri"/>
            </a:endParaRPr>
          </a:p>
        </p:txBody>
      </p:sp>
      <p:cxnSp>
        <p:nvCxnSpPr>
          <p:cNvPr id="313" name="Google Shape;313;p31"/>
          <p:cNvCxnSpPr/>
          <p:nvPr/>
        </p:nvCxnSpPr>
        <p:spPr>
          <a:xfrm>
            <a:off x="5687568" y="3517290"/>
            <a:ext cx="749700" cy="0"/>
          </a:xfrm>
          <a:prstGeom prst="straightConnector1">
            <a:avLst/>
          </a:prstGeom>
          <a:noFill/>
          <a:ln cap="flat" cmpd="sng" w="22225">
            <a:solidFill>
              <a:srgbClr val="B8860B"/>
            </a:solidFill>
            <a:prstDash val="solid"/>
            <a:round/>
            <a:headEnd len="sm" w="sm" type="none"/>
            <a:tailEnd len="med" w="med" type="triangle"/>
          </a:ln>
        </p:spPr>
      </p:cxnSp>
      <p:sp>
        <p:nvSpPr>
          <p:cNvPr id="314" name="Google Shape;314;p31"/>
          <p:cNvSpPr txBox="1"/>
          <p:nvPr/>
        </p:nvSpPr>
        <p:spPr>
          <a:xfrm>
            <a:off x="5420627" y="3152599"/>
            <a:ext cx="12801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n-US" sz="1000">
                <a:solidFill>
                  <a:srgbClr val="5B6270"/>
                </a:solidFill>
                <a:latin typeface="Calibri"/>
                <a:ea typeface="Calibri"/>
                <a:cs typeface="Calibri"/>
                <a:sym typeface="Calibri"/>
              </a:rPr>
              <a:t>rated-app.war</a:t>
            </a:r>
            <a:endParaRPr/>
          </a:p>
        </p:txBody>
      </p:sp>
      <p:sp>
        <p:nvSpPr>
          <p:cNvPr id="315" name="Google Shape;315;p31"/>
          <p:cNvSpPr txBox="1"/>
          <p:nvPr/>
        </p:nvSpPr>
        <p:spPr>
          <a:xfrm>
            <a:off x="777240" y="4811829"/>
            <a:ext cx="106071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00">
                <a:solidFill>
                  <a:srgbClr val="B8860B"/>
                </a:solidFill>
                <a:latin typeface="Calibri"/>
                <a:ea typeface="Calibri"/>
                <a:cs typeface="Calibri"/>
                <a:sym typeface="Calibri"/>
              </a:rPr>
              <a:t>HOW THE DATABASE PARAMETERS REACH THE APPLICATION</a:t>
            </a:r>
            <a:endParaRPr b="1" i="0" sz="1400">
              <a:solidFill>
                <a:srgbClr val="B8860B"/>
              </a:solidFill>
              <a:latin typeface="Calibri"/>
              <a:ea typeface="Calibri"/>
              <a:cs typeface="Calibri"/>
              <a:sym typeface="Calibri"/>
            </a:endParaRPr>
          </a:p>
        </p:txBody>
      </p:sp>
      <p:sp>
        <p:nvSpPr>
          <p:cNvPr id="316" name="Google Shape;316;p31"/>
          <p:cNvSpPr/>
          <p:nvPr/>
        </p:nvSpPr>
        <p:spPr>
          <a:xfrm>
            <a:off x="762156" y="5750065"/>
            <a:ext cx="2183700" cy="7773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lang="en-US" sz="1300">
                <a:solidFill>
                  <a:srgbClr val="16181D"/>
                </a:solidFill>
                <a:latin typeface="Calibri"/>
                <a:ea typeface="Calibri"/>
                <a:cs typeface="Calibri"/>
                <a:sym typeface="Calibri"/>
              </a:rPr>
              <a:t>Compose sets the values trough CATALINA_OPTS</a:t>
            </a:r>
            <a:endParaRPr sz="1300">
              <a:solidFill>
                <a:schemeClr val="lt1"/>
              </a:solidFill>
              <a:latin typeface="Calibri"/>
              <a:ea typeface="Calibri"/>
              <a:cs typeface="Calibri"/>
              <a:sym typeface="Calibri"/>
            </a:endParaRPr>
          </a:p>
        </p:txBody>
      </p:sp>
      <p:sp>
        <p:nvSpPr>
          <p:cNvPr id="317" name="Google Shape;317;p31"/>
          <p:cNvSpPr/>
          <p:nvPr/>
        </p:nvSpPr>
        <p:spPr>
          <a:xfrm>
            <a:off x="3324882" y="5750065"/>
            <a:ext cx="2377500" cy="7773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lang="en-US" sz="1300">
                <a:solidFill>
                  <a:srgbClr val="16181D"/>
                </a:solidFill>
                <a:latin typeface="Calibri"/>
                <a:ea typeface="Calibri"/>
                <a:cs typeface="Calibri"/>
                <a:sym typeface="Calibri"/>
              </a:rPr>
              <a:t>Values arrive as Java system properties</a:t>
            </a:r>
            <a:endParaRPr sz="1300">
              <a:solidFill>
                <a:schemeClr val="lt1"/>
              </a:solidFill>
              <a:latin typeface="Calibri"/>
              <a:ea typeface="Calibri"/>
              <a:cs typeface="Calibri"/>
              <a:sym typeface="Calibri"/>
            </a:endParaRPr>
          </a:p>
        </p:txBody>
      </p:sp>
      <p:sp>
        <p:nvSpPr>
          <p:cNvPr id="318" name="Google Shape;318;p31"/>
          <p:cNvSpPr/>
          <p:nvPr/>
        </p:nvSpPr>
        <p:spPr>
          <a:xfrm>
            <a:off x="6068082" y="5750065"/>
            <a:ext cx="2377500" cy="7773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lang="en-US" sz="1300">
                <a:solidFill>
                  <a:srgbClr val="16181D"/>
                </a:solidFill>
                <a:latin typeface="Calibri"/>
                <a:ea typeface="Calibri"/>
                <a:cs typeface="Calibri"/>
                <a:sym typeface="Calibri"/>
              </a:rPr>
              <a:t>The application looks up the connection by name using JNDI</a:t>
            </a:r>
            <a:endParaRPr sz="1300">
              <a:solidFill>
                <a:schemeClr val="lt1"/>
              </a:solidFill>
              <a:latin typeface="Calibri"/>
              <a:ea typeface="Calibri"/>
              <a:cs typeface="Calibri"/>
              <a:sym typeface="Calibri"/>
            </a:endParaRPr>
          </a:p>
        </p:txBody>
      </p:sp>
      <p:sp>
        <p:nvSpPr>
          <p:cNvPr id="319" name="Google Shape;319;p31"/>
          <p:cNvSpPr/>
          <p:nvPr/>
        </p:nvSpPr>
        <p:spPr>
          <a:xfrm>
            <a:off x="8811282" y="5750065"/>
            <a:ext cx="2377500" cy="7773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lang="en-US" sz="1300">
                <a:solidFill>
                  <a:srgbClr val="16181D"/>
                </a:solidFill>
                <a:latin typeface="Calibri"/>
                <a:ea typeface="Calibri"/>
                <a:cs typeface="Calibri"/>
                <a:sym typeface="Calibri"/>
              </a:rPr>
              <a:t>Connection opened </a:t>
            </a:r>
            <a:r>
              <a:rPr b="0" i="0" lang="en-US" sz="1300">
                <a:solidFill>
                  <a:srgbClr val="16181D"/>
                </a:solidFill>
                <a:latin typeface="Calibri"/>
                <a:ea typeface="Calibri"/>
                <a:cs typeface="Calibri"/>
                <a:sym typeface="Calibri"/>
              </a:rPr>
              <a:t>to MySQL at runtime</a:t>
            </a:r>
            <a:endParaRPr sz="1300">
              <a:solidFill>
                <a:schemeClr val="lt1"/>
              </a:solidFill>
              <a:latin typeface="Calibri"/>
              <a:ea typeface="Calibri"/>
              <a:cs typeface="Calibri"/>
              <a:sym typeface="Calibri"/>
            </a:endParaRPr>
          </a:p>
        </p:txBody>
      </p:sp>
      <p:cxnSp>
        <p:nvCxnSpPr>
          <p:cNvPr id="320" name="Google Shape;320;p31"/>
          <p:cNvCxnSpPr/>
          <p:nvPr/>
        </p:nvCxnSpPr>
        <p:spPr>
          <a:xfrm>
            <a:off x="3013986" y="6138685"/>
            <a:ext cx="255900" cy="0"/>
          </a:xfrm>
          <a:prstGeom prst="straightConnector1">
            <a:avLst/>
          </a:prstGeom>
          <a:noFill/>
          <a:ln cap="flat" cmpd="sng" w="22225">
            <a:solidFill>
              <a:srgbClr val="B8860B"/>
            </a:solidFill>
            <a:prstDash val="solid"/>
            <a:round/>
            <a:headEnd len="sm" w="sm" type="none"/>
            <a:tailEnd len="med" w="med" type="triangle"/>
          </a:ln>
        </p:spPr>
      </p:cxnSp>
      <p:cxnSp>
        <p:nvCxnSpPr>
          <p:cNvPr id="321" name="Google Shape;321;p31"/>
          <p:cNvCxnSpPr/>
          <p:nvPr/>
        </p:nvCxnSpPr>
        <p:spPr>
          <a:xfrm>
            <a:off x="5757186" y="6138685"/>
            <a:ext cx="255900" cy="0"/>
          </a:xfrm>
          <a:prstGeom prst="straightConnector1">
            <a:avLst/>
          </a:prstGeom>
          <a:noFill/>
          <a:ln cap="flat" cmpd="sng" w="22225">
            <a:solidFill>
              <a:srgbClr val="B8860B"/>
            </a:solidFill>
            <a:prstDash val="solid"/>
            <a:round/>
            <a:headEnd len="sm" w="sm" type="none"/>
            <a:tailEnd len="med" w="med" type="triangle"/>
          </a:ln>
        </p:spPr>
      </p:cxnSp>
      <p:cxnSp>
        <p:nvCxnSpPr>
          <p:cNvPr id="322" name="Google Shape;322;p31"/>
          <p:cNvCxnSpPr/>
          <p:nvPr/>
        </p:nvCxnSpPr>
        <p:spPr>
          <a:xfrm>
            <a:off x="8500386" y="6138685"/>
            <a:ext cx="255900" cy="0"/>
          </a:xfrm>
          <a:prstGeom prst="straightConnector1">
            <a:avLst/>
          </a:prstGeom>
          <a:noFill/>
          <a:ln cap="flat" cmpd="sng" w="22225">
            <a:solidFill>
              <a:srgbClr val="B8860B"/>
            </a:solidFill>
            <a:prstDash val="solid"/>
            <a:round/>
            <a:headEnd len="sm" w="sm" type="none"/>
            <a:tailEnd len="med" w="med" type="triangle"/>
          </a:ln>
        </p:spPr>
      </p:cxnSp>
      <p:sp>
        <p:nvSpPr>
          <p:cNvPr id="323" name="Google Shape;323;p31"/>
          <p:cNvSpPr txBox="1"/>
          <p:nvPr/>
        </p:nvSpPr>
        <p:spPr>
          <a:xfrm>
            <a:off x="711094" y="5088524"/>
            <a:ext cx="10607400" cy="58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u="sng">
                <a:solidFill>
                  <a:schemeClr val="dk1"/>
                </a:solidFill>
                <a:latin typeface="Calibri"/>
                <a:ea typeface="Calibri"/>
                <a:cs typeface="Calibri"/>
                <a:sym typeface="Calibri"/>
              </a:rPr>
              <a:t>The database credentials are never written in the code or baked into the image but they are injected when the container starts.</a:t>
            </a:r>
            <a:endParaRPr/>
          </a:p>
        </p:txBody>
      </p:sp>
      <p:sp>
        <p:nvSpPr>
          <p:cNvPr id="324" name="Google Shape;324;p31"/>
          <p:cNvSpPr/>
          <p:nvPr/>
        </p:nvSpPr>
        <p:spPr>
          <a:xfrm>
            <a:off x="6630479" y="2420009"/>
            <a:ext cx="4755000" cy="21174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400">
                <a:solidFill>
                  <a:schemeClr val="dk1"/>
                </a:solidFill>
                <a:latin typeface="Calibri"/>
                <a:ea typeface="Calibri"/>
                <a:cs typeface="Calibri"/>
                <a:sym typeface="Calibri"/>
              </a:rPr>
              <a:t>STAGE </a:t>
            </a:r>
            <a:r>
              <a:rPr b="1" lang="en-US" sz="1400">
                <a:solidFill>
                  <a:schemeClr val="dk1"/>
                </a:solidFill>
                <a:latin typeface="Calibri"/>
                <a:ea typeface="Calibri"/>
                <a:cs typeface="Calibri"/>
                <a:sym typeface="Calibri"/>
              </a:rPr>
              <a:t>2  </a:t>
            </a:r>
            <a:r>
              <a:rPr b="1" i="0" lang="en-US" sz="1400">
                <a:solidFill>
                  <a:schemeClr val="dk1"/>
                </a:solidFill>
                <a:latin typeface="Calibri"/>
                <a:ea typeface="Calibri"/>
                <a:cs typeface="Calibri"/>
                <a:sym typeface="Calibri"/>
              </a:rPr>
              <a:t>· </a:t>
            </a:r>
            <a:r>
              <a:rPr b="1" lang="en-US" sz="1400">
                <a:solidFill>
                  <a:schemeClr val="dk1"/>
                </a:solidFill>
                <a:latin typeface="Calibri"/>
                <a:ea typeface="Calibri"/>
                <a:cs typeface="Calibri"/>
                <a:sym typeface="Calibri"/>
              </a:rPr>
              <a:t>RUNTIME</a:t>
            </a:r>
            <a:endParaRPr b="1" i="0" sz="1400">
              <a:solidFill>
                <a:schemeClr val="dk1"/>
              </a:solidFill>
              <a:latin typeface="Calibri"/>
              <a:ea typeface="Calibri"/>
              <a:cs typeface="Calibri"/>
              <a:sym typeface="Calibri"/>
            </a:endParaRPr>
          </a:p>
          <a:p>
            <a:pPr indent="0" lvl="0" marL="0" marR="0" rtl="0" algn="l">
              <a:lnSpc>
                <a:spcPct val="106000"/>
              </a:lnSpc>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a:t>
            </a:r>
            <a:r>
              <a:rPr lang="en-US" sz="1400">
                <a:solidFill>
                  <a:srgbClr val="16181D"/>
                </a:solidFill>
                <a:latin typeface="Calibri"/>
                <a:ea typeface="Calibri"/>
                <a:cs typeface="Calibri"/>
                <a:sym typeface="Calibri"/>
              </a:rPr>
              <a:t>Only </a:t>
            </a:r>
            <a:r>
              <a:rPr b="0" i="0" lang="en-US" sz="1400">
                <a:solidFill>
                  <a:srgbClr val="16181D"/>
                </a:solidFill>
                <a:latin typeface="Calibri"/>
                <a:ea typeface="Calibri"/>
                <a:cs typeface="Calibri"/>
                <a:sym typeface="Calibri"/>
              </a:rPr>
              <a:t>the </a:t>
            </a:r>
            <a:r>
              <a:rPr lang="en-US" sz="1400">
                <a:solidFill>
                  <a:srgbClr val="16181D"/>
                </a:solidFill>
                <a:latin typeface="Calibri"/>
                <a:ea typeface="Calibri"/>
                <a:cs typeface="Calibri"/>
                <a:sym typeface="Calibri"/>
              </a:rPr>
              <a:t>packaged </a:t>
            </a:r>
            <a:r>
              <a:rPr b="0" i="0" lang="en-US" sz="1400">
                <a:solidFill>
                  <a:srgbClr val="16181D"/>
                </a:solidFill>
                <a:latin typeface="Calibri"/>
                <a:ea typeface="Calibri"/>
                <a:cs typeface="Calibri"/>
                <a:sym typeface="Calibri"/>
              </a:rPr>
              <a:t>application </a:t>
            </a:r>
            <a:r>
              <a:rPr lang="en-US" sz="1400">
                <a:solidFill>
                  <a:srgbClr val="16181D"/>
                </a:solidFill>
                <a:latin typeface="Calibri"/>
                <a:ea typeface="Calibri"/>
                <a:cs typeface="Calibri"/>
                <a:sym typeface="Calibri"/>
              </a:rPr>
              <a:t>crosses over from the first stage</a:t>
            </a:r>
            <a:r>
              <a:rPr b="0" i="0" lang="en-US" sz="1400">
                <a:solidFill>
                  <a:srgbClr val="16181D"/>
                </a:solidFill>
                <a:latin typeface="Calibri"/>
                <a:ea typeface="Calibri"/>
                <a:cs typeface="Calibri"/>
                <a:sym typeface="Calibri"/>
              </a:rPr>
              <a:t>.</a:t>
            </a:r>
            <a:endParaRPr b="0" i="0" sz="1400">
              <a:solidFill>
                <a:schemeClr val="lt1"/>
              </a:solidFill>
              <a:latin typeface="Calibri"/>
              <a:ea typeface="Calibri"/>
              <a:cs typeface="Calibri"/>
              <a:sym typeface="Calibri"/>
            </a:endParaRPr>
          </a:p>
          <a:p>
            <a:pPr indent="0" lvl="0" marL="0" marR="0" rtl="0" algn="l">
              <a:spcBef>
                <a:spcPts val="28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T</a:t>
            </a:r>
            <a:r>
              <a:rPr lang="en-US" sz="1400">
                <a:solidFill>
                  <a:srgbClr val="16181D"/>
                </a:solidFill>
                <a:latin typeface="Calibri"/>
                <a:ea typeface="Calibri"/>
                <a:cs typeface="Calibri"/>
                <a:sym typeface="Calibri"/>
              </a:rPr>
              <a:t>omcat's default applications are removed, so the image contains nothing but what the project actually needs</a:t>
            </a:r>
            <a:r>
              <a:rPr lang="en-US" sz="14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n-US" sz="1400">
                <a:solidFill>
                  <a:srgbClr val="B8860B"/>
                </a:solidFill>
                <a:latin typeface="Calibri"/>
                <a:ea typeface="Calibri"/>
                <a:cs typeface="Calibri"/>
                <a:sym typeface="Calibri"/>
              </a:rPr>
              <a:t>▸</a:t>
            </a:r>
            <a:r>
              <a:rPr lang="en-US" sz="1400">
                <a:solidFill>
                  <a:schemeClr val="dk1"/>
                </a:solidFill>
                <a:latin typeface="Calibri"/>
                <a:ea typeface="Calibri"/>
                <a:cs typeface="Calibri"/>
                <a:sym typeface="Calibri"/>
              </a:rPr>
              <a:t> Nothing needs to be installed on the developer's machine: no JDK, no Maven.</a:t>
            </a:r>
            <a:endParaRPr sz="1400">
              <a:solidFill>
                <a:schemeClr val="dk1"/>
              </a:solidFill>
              <a:latin typeface="Calibri"/>
              <a:ea typeface="Calibri"/>
              <a:cs typeface="Calibri"/>
              <a:sym typeface="Calibri"/>
            </a:endParaRPr>
          </a:p>
          <a:p>
            <a:pPr indent="0" lvl="0" marL="0" marR="0" rtl="0" algn="l">
              <a:lnSpc>
                <a:spcPct val="106000"/>
              </a:lnSpc>
              <a:spcBef>
                <a:spcPts val="0"/>
              </a:spcBef>
              <a:spcAft>
                <a:spcPts val="0"/>
              </a:spcAft>
              <a:buNone/>
            </a:pPr>
            <a:r>
              <a:t/>
            </a:r>
            <a:endParaRPr sz="1300">
              <a:solidFill>
                <a:srgbClr val="5B6270"/>
              </a:solidFill>
              <a:latin typeface="Calibri"/>
              <a:ea typeface="Calibri"/>
              <a:cs typeface="Calibri"/>
              <a:sym typeface="Calibri"/>
            </a:endParaRPr>
          </a:p>
          <a:p>
            <a:pPr indent="0" lvl="0" marL="0" marR="0" rtl="0" algn="l">
              <a:lnSpc>
                <a:spcPct val="106000"/>
              </a:lnSpc>
              <a:spcBef>
                <a:spcPts val="280"/>
              </a:spcBef>
              <a:spcAft>
                <a:spcPts val="0"/>
              </a:spcAft>
              <a:buNone/>
            </a:pPr>
            <a:r>
              <a:t/>
            </a:r>
            <a:endParaRPr sz="1300">
              <a:solidFill>
                <a:srgbClr val="5B627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2"/>
          <p:cNvSpPr txBox="1"/>
          <p:nvPr/>
        </p:nvSpPr>
        <p:spPr>
          <a:xfrm>
            <a:off x="777240" y="438912"/>
            <a:ext cx="10607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4 · DOCKER ENVIRONMENT</a:t>
            </a:r>
            <a:endParaRPr/>
          </a:p>
        </p:txBody>
      </p:sp>
      <p:sp>
        <p:nvSpPr>
          <p:cNvPr id="330" name="Google Shape;330;p32"/>
          <p:cNvSpPr txBox="1"/>
          <p:nvPr/>
        </p:nvSpPr>
        <p:spPr>
          <a:xfrm>
            <a:off x="777240" y="749808"/>
            <a:ext cx="10607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Deployment architecture</a:t>
            </a:r>
            <a:endParaRPr/>
          </a:p>
        </p:txBody>
      </p:sp>
      <p:sp>
        <p:nvSpPr>
          <p:cNvPr id="331" name="Google Shape;331;p32"/>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32"/>
          <p:cNvSpPr txBox="1"/>
          <p:nvPr/>
        </p:nvSpPr>
        <p:spPr>
          <a:xfrm>
            <a:off x="777240" y="1783080"/>
            <a:ext cx="10607100" cy="3201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None/>
            </a:pPr>
            <a:r>
              <a:rPr b="1" i="0" lang="en-US" sz="1800">
                <a:solidFill>
                  <a:srgbClr val="B8860B"/>
                </a:solidFill>
                <a:latin typeface="Calibri"/>
                <a:ea typeface="Calibri"/>
                <a:cs typeface="Calibri"/>
                <a:sym typeface="Calibri"/>
              </a:rPr>
              <a:t>▸  </a:t>
            </a:r>
            <a:r>
              <a:rPr i="0" lang="en-US" sz="1800">
                <a:solidFill>
                  <a:srgbClr val="16181D"/>
                </a:solidFill>
                <a:latin typeface="Calibri"/>
                <a:ea typeface="Calibri"/>
                <a:cs typeface="Calibri"/>
                <a:sym typeface="Calibri"/>
              </a:rPr>
              <a:t>Only</a:t>
            </a:r>
            <a:r>
              <a:rPr b="1" i="0" lang="en-US" sz="1800">
                <a:solidFill>
                  <a:srgbClr val="16181D"/>
                </a:solidFill>
                <a:latin typeface="Calibri"/>
                <a:ea typeface="Calibri"/>
                <a:cs typeface="Calibri"/>
                <a:sym typeface="Calibri"/>
              </a:rPr>
              <a:t> </a:t>
            </a:r>
            <a:r>
              <a:rPr b="0" i="0" lang="en-US" sz="1800">
                <a:solidFill>
                  <a:srgbClr val="16181D"/>
                </a:solidFill>
                <a:latin typeface="Calibri"/>
                <a:ea typeface="Calibri"/>
                <a:cs typeface="Calibri"/>
                <a:sym typeface="Calibri"/>
              </a:rPr>
              <a:t>the application is reachable from the host, the database is not.</a:t>
            </a:r>
            <a:endParaRPr b="0" i="0" sz="1800">
              <a:solidFill>
                <a:srgbClr val="16181D"/>
              </a:solidFill>
              <a:latin typeface="Calibri"/>
              <a:ea typeface="Calibri"/>
              <a:cs typeface="Calibri"/>
              <a:sym typeface="Calibri"/>
            </a:endParaRPr>
          </a:p>
        </p:txBody>
      </p:sp>
      <p:sp>
        <p:nvSpPr>
          <p:cNvPr id="333" name="Google Shape;333;p32"/>
          <p:cNvSpPr/>
          <p:nvPr/>
        </p:nvSpPr>
        <p:spPr>
          <a:xfrm>
            <a:off x="3293978" y="2697480"/>
            <a:ext cx="8090400" cy="2926200"/>
          </a:xfrm>
          <a:prstGeom prst="roundRect">
            <a:avLst>
              <a:gd fmla="val 8000" name="adj"/>
            </a:avLst>
          </a:prstGeom>
          <a:noFill/>
          <a:ln cap="flat" cmpd="sng" w="19050">
            <a:solidFill>
              <a:srgbClr val="B8860B"/>
            </a:solidFill>
            <a:prstDash val="dash"/>
            <a:round/>
            <a:headEnd len="sm" w="sm" type="none"/>
            <a:tailEnd len="sm" w="sm" type="none"/>
          </a:ln>
        </p:spPr>
        <p:txBody>
          <a:bodyPr anchorCtr="0" anchor="ctr" bIns="91425" lIns="182875" spcFirstLastPara="1" rIns="18287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32"/>
          <p:cNvSpPr txBox="1"/>
          <p:nvPr/>
        </p:nvSpPr>
        <p:spPr>
          <a:xfrm>
            <a:off x="3474720" y="2862072"/>
            <a:ext cx="5486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00">
                <a:solidFill>
                  <a:srgbClr val="B8860B"/>
                </a:solidFill>
                <a:latin typeface="Calibri"/>
                <a:ea typeface="Calibri"/>
                <a:cs typeface="Calibri"/>
                <a:sym typeface="Calibri"/>
              </a:rPr>
              <a:t>rated-network  ·  private Docker network</a:t>
            </a:r>
            <a:endParaRPr/>
          </a:p>
        </p:txBody>
      </p:sp>
      <p:sp>
        <p:nvSpPr>
          <p:cNvPr id="335" name="Google Shape;335;p32"/>
          <p:cNvSpPr/>
          <p:nvPr/>
        </p:nvSpPr>
        <p:spPr>
          <a:xfrm>
            <a:off x="777240" y="3497580"/>
            <a:ext cx="1554600" cy="9600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b="1" i="0" lang="en-US" sz="1500">
                <a:solidFill>
                  <a:srgbClr val="16181D"/>
                </a:solidFill>
                <a:latin typeface="Calibri"/>
                <a:ea typeface="Calibri"/>
                <a:cs typeface="Calibri"/>
                <a:sym typeface="Calibri"/>
              </a:rPr>
              <a:t>Browser</a:t>
            </a:r>
            <a:endParaRPr b="1" i="0" sz="1500">
              <a:solidFill>
                <a:srgbClr val="16181D"/>
              </a:solidFill>
              <a:latin typeface="Calibri"/>
              <a:ea typeface="Calibri"/>
              <a:cs typeface="Calibri"/>
              <a:sym typeface="Calibri"/>
            </a:endParaRPr>
          </a:p>
          <a:p>
            <a:pPr indent="0" lvl="0" marL="0" marR="0" rtl="0" algn="ctr">
              <a:lnSpc>
                <a:spcPct val="106000"/>
              </a:lnSpc>
              <a:spcBef>
                <a:spcPts val="200"/>
              </a:spcBef>
              <a:spcAft>
                <a:spcPts val="0"/>
              </a:spcAft>
              <a:buNone/>
            </a:pPr>
            <a:r>
              <a:rPr b="0" i="0" lang="en-US" sz="1200">
                <a:solidFill>
                  <a:srgbClr val="5B6270"/>
                </a:solidFill>
                <a:latin typeface="Calibri"/>
                <a:ea typeface="Calibri"/>
                <a:cs typeface="Calibri"/>
                <a:sym typeface="Calibri"/>
              </a:rPr>
              <a:t>host machine</a:t>
            </a:r>
            <a:endParaRPr b="0" i="0" sz="1200">
              <a:solidFill>
                <a:srgbClr val="5B6270"/>
              </a:solidFill>
              <a:latin typeface="Calibri"/>
              <a:ea typeface="Calibri"/>
              <a:cs typeface="Calibri"/>
              <a:sym typeface="Calibri"/>
            </a:endParaRPr>
          </a:p>
        </p:txBody>
      </p:sp>
      <p:cxnSp>
        <p:nvCxnSpPr>
          <p:cNvPr id="336" name="Google Shape;336;p32"/>
          <p:cNvCxnSpPr/>
          <p:nvPr/>
        </p:nvCxnSpPr>
        <p:spPr>
          <a:xfrm>
            <a:off x="2468880" y="3977639"/>
            <a:ext cx="658500" cy="0"/>
          </a:xfrm>
          <a:prstGeom prst="straightConnector1">
            <a:avLst/>
          </a:prstGeom>
          <a:noFill/>
          <a:ln cap="flat" cmpd="sng" w="22225">
            <a:solidFill>
              <a:srgbClr val="B8860B"/>
            </a:solidFill>
            <a:prstDash val="solid"/>
            <a:round/>
            <a:headEnd len="sm" w="sm" type="none"/>
            <a:tailEnd len="med" w="med" type="triangle"/>
          </a:ln>
        </p:spPr>
      </p:cxnSp>
      <p:sp>
        <p:nvSpPr>
          <p:cNvPr id="337" name="Google Shape;337;p32"/>
          <p:cNvSpPr txBox="1"/>
          <p:nvPr/>
        </p:nvSpPr>
        <p:spPr>
          <a:xfrm>
            <a:off x="2226912" y="3611880"/>
            <a:ext cx="11430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n-US" sz="1200">
                <a:solidFill>
                  <a:srgbClr val="5B6270"/>
                </a:solidFill>
                <a:latin typeface="Calibri"/>
                <a:ea typeface="Calibri"/>
                <a:cs typeface="Calibri"/>
                <a:sym typeface="Calibri"/>
              </a:rPr>
              <a:t>HTTP · 8080</a:t>
            </a:r>
            <a:endParaRPr b="1" i="0" sz="1200">
              <a:solidFill>
                <a:srgbClr val="5B6270"/>
              </a:solidFill>
              <a:latin typeface="Calibri"/>
              <a:ea typeface="Calibri"/>
              <a:cs typeface="Calibri"/>
              <a:sym typeface="Calibri"/>
            </a:endParaRPr>
          </a:p>
        </p:txBody>
      </p:sp>
      <p:sp>
        <p:nvSpPr>
          <p:cNvPr id="338" name="Google Shape;338;p32"/>
          <p:cNvSpPr/>
          <p:nvPr/>
        </p:nvSpPr>
        <p:spPr>
          <a:xfrm>
            <a:off x="3520440" y="3291840"/>
            <a:ext cx="3566100" cy="13716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800">
                <a:solidFill>
                  <a:srgbClr val="B8860B"/>
                </a:solidFill>
                <a:latin typeface="Calibri"/>
                <a:ea typeface="Calibri"/>
                <a:cs typeface="Calibri"/>
                <a:sym typeface="Calibri"/>
              </a:rPr>
              <a:t>webapp</a:t>
            </a:r>
            <a:endParaRPr b="1" i="0" sz="1800">
              <a:solidFill>
                <a:srgbClr val="B8860B"/>
              </a:solidFill>
              <a:latin typeface="Calibri"/>
              <a:ea typeface="Calibri"/>
              <a:cs typeface="Calibri"/>
              <a:sym typeface="Calibri"/>
            </a:endParaRPr>
          </a:p>
          <a:p>
            <a:pPr indent="0" lvl="0" marL="0" marR="0" rtl="0" algn="l">
              <a:lnSpc>
                <a:spcPct val="106000"/>
              </a:lnSpc>
              <a:spcBef>
                <a:spcPts val="400"/>
              </a:spcBef>
              <a:spcAft>
                <a:spcPts val="0"/>
              </a:spcAft>
              <a:buNone/>
            </a:pPr>
            <a:r>
              <a:rPr b="0" i="0" lang="en-US" sz="1300">
                <a:solidFill>
                  <a:srgbClr val="16181D"/>
                </a:solidFill>
                <a:latin typeface="Calibri"/>
                <a:ea typeface="Calibri"/>
                <a:cs typeface="Calibri"/>
                <a:sym typeface="Calibri"/>
              </a:rPr>
              <a:t>Tomcat runtime serving the Rated application.</a:t>
            </a:r>
            <a:endParaRPr b="0" i="0" sz="1300">
              <a:solidFill>
                <a:srgbClr val="16181D"/>
              </a:solidFill>
              <a:latin typeface="Calibri"/>
              <a:ea typeface="Calibri"/>
              <a:cs typeface="Calibri"/>
              <a:sym typeface="Calibri"/>
            </a:endParaRPr>
          </a:p>
          <a:p>
            <a:pPr indent="0" lvl="0" marL="0" marR="0" rtl="0" algn="l">
              <a:lnSpc>
                <a:spcPct val="106000"/>
              </a:lnSpc>
              <a:spcBef>
                <a:spcPts val="300"/>
              </a:spcBef>
              <a:spcAft>
                <a:spcPts val="0"/>
              </a:spcAft>
              <a:buNone/>
            </a:pPr>
            <a:r>
              <a:rPr b="0" i="0" lang="en-US" sz="1300">
                <a:solidFill>
                  <a:srgbClr val="5B6270"/>
                </a:solidFill>
                <a:latin typeface="Calibri"/>
                <a:ea typeface="Calibri"/>
                <a:cs typeface="Calibri"/>
                <a:sym typeface="Calibri"/>
              </a:rPr>
              <a:t>The only container published to the host.</a:t>
            </a:r>
            <a:endParaRPr b="0" i="0" sz="1300">
              <a:solidFill>
                <a:srgbClr val="5B6270"/>
              </a:solidFill>
              <a:latin typeface="Calibri"/>
              <a:ea typeface="Calibri"/>
              <a:cs typeface="Calibri"/>
              <a:sym typeface="Calibri"/>
            </a:endParaRPr>
          </a:p>
        </p:txBody>
      </p:sp>
      <p:sp>
        <p:nvSpPr>
          <p:cNvPr id="339" name="Google Shape;339;p32"/>
          <p:cNvSpPr/>
          <p:nvPr/>
        </p:nvSpPr>
        <p:spPr>
          <a:xfrm>
            <a:off x="7863840" y="3291840"/>
            <a:ext cx="3200400" cy="13716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800">
                <a:solidFill>
                  <a:srgbClr val="B8860B"/>
                </a:solidFill>
                <a:latin typeface="Calibri"/>
                <a:ea typeface="Calibri"/>
                <a:cs typeface="Calibri"/>
                <a:sym typeface="Calibri"/>
              </a:rPr>
              <a:t>db_service</a:t>
            </a:r>
            <a:endParaRPr b="1" i="0" sz="1800">
              <a:solidFill>
                <a:srgbClr val="B8860B"/>
              </a:solidFill>
              <a:latin typeface="Calibri"/>
              <a:ea typeface="Calibri"/>
              <a:cs typeface="Calibri"/>
              <a:sym typeface="Calibri"/>
            </a:endParaRPr>
          </a:p>
          <a:p>
            <a:pPr indent="0" lvl="0" marL="0" marR="0" rtl="0" algn="l">
              <a:lnSpc>
                <a:spcPct val="106000"/>
              </a:lnSpc>
              <a:spcBef>
                <a:spcPts val="400"/>
              </a:spcBef>
              <a:spcAft>
                <a:spcPts val="0"/>
              </a:spcAft>
              <a:buNone/>
            </a:pPr>
            <a:r>
              <a:rPr b="0" i="0" lang="en-US" sz="1300">
                <a:solidFill>
                  <a:srgbClr val="16181D"/>
                </a:solidFill>
                <a:latin typeface="Calibri"/>
                <a:ea typeface="Calibri"/>
                <a:cs typeface="Calibri"/>
                <a:sym typeface="Calibri"/>
              </a:rPr>
              <a:t>MySQL database with the Rated schema.</a:t>
            </a:r>
            <a:endParaRPr b="0" i="0" sz="1300">
              <a:solidFill>
                <a:srgbClr val="16181D"/>
              </a:solidFill>
              <a:latin typeface="Calibri"/>
              <a:ea typeface="Calibri"/>
              <a:cs typeface="Calibri"/>
              <a:sym typeface="Calibri"/>
            </a:endParaRPr>
          </a:p>
          <a:p>
            <a:pPr indent="0" lvl="0" marL="0" marR="0" rtl="0" algn="l">
              <a:lnSpc>
                <a:spcPct val="106000"/>
              </a:lnSpc>
              <a:spcBef>
                <a:spcPts val="300"/>
              </a:spcBef>
              <a:spcAft>
                <a:spcPts val="0"/>
              </a:spcAft>
              <a:buNone/>
            </a:pPr>
            <a:r>
              <a:rPr b="0" i="0" lang="en-US" sz="1300">
                <a:solidFill>
                  <a:srgbClr val="5B6270"/>
                </a:solidFill>
                <a:latin typeface="Calibri"/>
                <a:ea typeface="Calibri"/>
                <a:cs typeface="Calibri"/>
                <a:sym typeface="Calibri"/>
              </a:rPr>
              <a:t>Not published to the host.</a:t>
            </a:r>
            <a:endParaRPr b="0" i="0" sz="1300">
              <a:solidFill>
                <a:srgbClr val="5B6270"/>
              </a:solidFill>
              <a:latin typeface="Calibri"/>
              <a:ea typeface="Calibri"/>
              <a:cs typeface="Calibri"/>
              <a:sym typeface="Calibri"/>
            </a:endParaRPr>
          </a:p>
        </p:txBody>
      </p:sp>
      <p:cxnSp>
        <p:nvCxnSpPr>
          <p:cNvPr id="340" name="Google Shape;340;p32"/>
          <p:cNvCxnSpPr/>
          <p:nvPr/>
        </p:nvCxnSpPr>
        <p:spPr>
          <a:xfrm>
            <a:off x="7178040" y="3977639"/>
            <a:ext cx="594300" cy="0"/>
          </a:xfrm>
          <a:prstGeom prst="straightConnector1">
            <a:avLst/>
          </a:prstGeom>
          <a:noFill/>
          <a:ln cap="flat" cmpd="sng" w="22225">
            <a:solidFill>
              <a:srgbClr val="B8860B"/>
            </a:solidFill>
            <a:prstDash val="solid"/>
            <a:round/>
            <a:headEnd len="sm" w="sm" type="none"/>
            <a:tailEnd len="med" w="med" type="triangle"/>
          </a:ln>
        </p:spPr>
      </p:cxnSp>
      <p:sp>
        <p:nvSpPr>
          <p:cNvPr id="341" name="Google Shape;341;p32"/>
          <p:cNvSpPr txBox="1"/>
          <p:nvPr/>
        </p:nvSpPr>
        <p:spPr>
          <a:xfrm>
            <a:off x="6883667" y="3611880"/>
            <a:ext cx="1188600" cy="274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en-US" sz="1200">
                <a:solidFill>
                  <a:srgbClr val="5B6270"/>
                </a:solidFill>
                <a:latin typeface="Calibri"/>
                <a:ea typeface="Calibri"/>
                <a:cs typeface="Calibri"/>
                <a:sym typeface="Calibri"/>
              </a:rPr>
              <a:t>JDBC</a:t>
            </a:r>
            <a:endParaRPr b="1" i="0" sz="1200">
              <a:solidFill>
                <a:srgbClr val="5B6270"/>
              </a:solidFill>
              <a:latin typeface="Calibri"/>
              <a:ea typeface="Calibri"/>
              <a:cs typeface="Calibri"/>
              <a:sym typeface="Calibri"/>
            </a:endParaRPr>
          </a:p>
        </p:txBody>
      </p:sp>
      <p:cxnSp>
        <p:nvCxnSpPr>
          <p:cNvPr id="342" name="Google Shape;342;p32"/>
          <p:cNvCxnSpPr/>
          <p:nvPr/>
        </p:nvCxnSpPr>
        <p:spPr>
          <a:xfrm>
            <a:off x="9464040" y="4663440"/>
            <a:ext cx="0" cy="274200"/>
          </a:xfrm>
          <a:prstGeom prst="straightConnector1">
            <a:avLst/>
          </a:prstGeom>
          <a:noFill/>
          <a:ln cap="flat" cmpd="sng" w="22225">
            <a:solidFill>
              <a:srgbClr val="B8860B"/>
            </a:solidFill>
            <a:prstDash val="solid"/>
            <a:round/>
            <a:headEnd len="sm" w="sm" type="none"/>
            <a:tailEnd len="med" w="med" type="triangle"/>
          </a:ln>
        </p:spPr>
      </p:cxnSp>
      <p:sp>
        <p:nvSpPr>
          <p:cNvPr id="343" name="Google Shape;343;p32"/>
          <p:cNvSpPr/>
          <p:nvPr/>
        </p:nvSpPr>
        <p:spPr>
          <a:xfrm>
            <a:off x="7863840" y="4937760"/>
            <a:ext cx="3200400" cy="502800"/>
          </a:xfrm>
          <a:prstGeom prst="roundRect">
            <a:avLst>
              <a:gd fmla="val 8000" name="adj"/>
            </a:avLst>
          </a:prstGeom>
          <a:solidFill>
            <a:srgbClr val="F3F4F6"/>
          </a:solidFill>
          <a:ln>
            <a:noFill/>
          </a:ln>
        </p:spPr>
        <p:txBody>
          <a:bodyPr anchorCtr="0" anchor="ctr" bIns="91425" lIns="182875" spcFirstLastPara="1" rIns="182875" wrap="square" tIns="91425">
            <a:noAutofit/>
          </a:bodyPr>
          <a:lstStyle/>
          <a:p>
            <a:pPr indent="0" lvl="0" marL="0" marR="0" rtl="0" algn="ctr">
              <a:lnSpc>
                <a:spcPct val="106000"/>
              </a:lnSpc>
              <a:spcBef>
                <a:spcPts val="0"/>
              </a:spcBef>
              <a:spcAft>
                <a:spcPts val="0"/>
              </a:spcAft>
              <a:buNone/>
            </a:pPr>
            <a:r>
              <a:rPr b="1" i="0" lang="en-US" sz="1300">
                <a:solidFill>
                  <a:srgbClr val="16181D"/>
                </a:solidFill>
                <a:latin typeface="Calibri"/>
                <a:ea typeface="Calibri"/>
                <a:cs typeface="Calibri"/>
                <a:sym typeface="Calibri"/>
              </a:rPr>
              <a:t>db_data</a:t>
            </a:r>
            <a:r>
              <a:rPr b="0" i="0" lang="en-US" sz="1300">
                <a:solidFill>
                  <a:srgbClr val="5B6270"/>
                </a:solidFill>
                <a:latin typeface="Calibri"/>
                <a:ea typeface="Calibri"/>
                <a:cs typeface="Calibri"/>
                <a:sym typeface="Calibri"/>
              </a:rPr>
              <a:t>  named volume</a:t>
            </a:r>
            <a:endParaRPr b="0" i="0" sz="1300">
              <a:solidFill>
                <a:srgbClr val="5B627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3"/>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33"/>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33"/>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5</a:t>
            </a:r>
            <a:endParaRPr/>
          </a:p>
        </p:txBody>
      </p:sp>
      <p:sp>
        <p:nvSpPr>
          <p:cNvPr id="351" name="Google Shape;351;p33"/>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Testing activities</a:t>
            </a:r>
            <a:endParaRPr/>
          </a:p>
        </p:txBody>
      </p:sp>
      <p:sp>
        <p:nvSpPr>
          <p:cNvPr id="352" name="Google Shape;352;p33"/>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4"/>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5 · TESTING ACTIVITIES</a:t>
            </a:r>
            <a:endParaRPr/>
          </a:p>
        </p:txBody>
      </p:sp>
      <p:sp>
        <p:nvSpPr>
          <p:cNvPr id="358" name="Google Shape;358;p34"/>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Code coverage with JaCoCo</a:t>
            </a:r>
            <a:endParaRPr/>
          </a:p>
        </p:txBody>
      </p:sp>
      <p:sp>
        <p:nvSpPr>
          <p:cNvPr id="359" name="Google Shape;359;p34"/>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34"/>
          <p:cNvSpPr txBox="1"/>
          <p:nvPr/>
        </p:nvSpPr>
        <p:spPr>
          <a:xfrm>
            <a:off x="777240" y="1572768"/>
            <a:ext cx="10607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600">
                <a:solidFill>
                  <a:srgbClr val="5B6270"/>
                </a:solidFill>
                <a:latin typeface="Calibri"/>
                <a:ea typeface="Calibri"/>
                <a:cs typeface="Calibri"/>
                <a:sym typeface="Calibri"/>
              </a:rPr>
              <a:t>Threshold set at 80% code and branch coverage </a:t>
            </a:r>
            <a:endParaRPr b="0" i="1" sz="1600">
              <a:solidFill>
                <a:srgbClr val="5B6270"/>
              </a:solidFill>
              <a:latin typeface="Calibri"/>
              <a:ea typeface="Calibri"/>
              <a:cs typeface="Calibri"/>
              <a:sym typeface="Calibri"/>
            </a:endParaRPr>
          </a:p>
        </p:txBody>
      </p:sp>
      <p:sp>
        <p:nvSpPr>
          <p:cNvPr id="361" name="Google Shape;361;p34"/>
          <p:cNvSpPr txBox="1"/>
          <p:nvPr/>
        </p:nvSpPr>
        <p:spPr>
          <a:xfrm>
            <a:off x="777240" y="2029968"/>
            <a:ext cx="10607100" cy="253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600">
                <a:solidFill>
                  <a:srgbClr val="B3261E"/>
                </a:solidFill>
                <a:latin typeface="Calibri"/>
                <a:ea typeface="Calibri"/>
                <a:cs typeface="Calibri"/>
                <a:sym typeface="Calibri"/>
              </a:rPr>
              <a:t>BEFORE  ·  58% instructions · 41% branches · 857 missed lines out of 1,992</a:t>
            </a:r>
            <a:endParaRPr b="1" i="0" sz="1600">
              <a:solidFill>
                <a:srgbClr val="B3261E"/>
              </a:solidFill>
              <a:latin typeface="Calibri"/>
              <a:ea typeface="Calibri"/>
              <a:cs typeface="Calibri"/>
              <a:sym typeface="Calibri"/>
            </a:endParaRPr>
          </a:p>
        </p:txBody>
      </p:sp>
      <p:pic>
        <p:nvPicPr>
          <p:cNvPr descr="image3.png" id="362" name="Google Shape;362;p34"/>
          <p:cNvPicPr preferRelativeResize="0"/>
          <p:nvPr/>
        </p:nvPicPr>
        <p:blipFill rotWithShape="1">
          <a:blip r:embed="rId3">
            <a:alphaModFix/>
          </a:blip>
          <a:srcRect b="9892" l="186" r="11177" t="-892"/>
          <a:stretch/>
        </p:blipFill>
        <p:spPr>
          <a:xfrm>
            <a:off x="774427" y="2450138"/>
            <a:ext cx="10848626" cy="301523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5"/>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5 · TESTING ACTIVITIES</a:t>
            </a:r>
            <a:endParaRPr/>
          </a:p>
        </p:txBody>
      </p:sp>
      <p:sp>
        <p:nvSpPr>
          <p:cNvPr id="368" name="Google Shape;368;p35"/>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Code coverage with JaCoCo</a:t>
            </a:r>
            <a:endParaRPr/>
          </a:p>
        </p:txBody>
      </p:sp>
      <p:sp>
        <p:nvSpPr>
          <p:cNvPr id="369" name="Google Shape;369;p35"/>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35"/>
          <p:cNvSpPr txBox="1"/>
          <p:nvPr/>
        </p:nvSpPr>
        <p:spPr>
          <a:xfrm>
            <a:off x="777240" y="1572768"/>
            <a:ext cx="10607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600">
                <a:solidFill>
                  <a:srgbClr val="5B6270"/>
                </a:solidFill>
                <a:latin typeface="Calibri"/>
                <a:ea typeface="Calibri"/>
                <a:cs typeface="Calibri"/>
                <a:sym typeface="Calibri"/>
              </a:rPr>
              <a:t>Threshold set at 80% code and branch coverage </a:t>
            </a:r>
            <a:endParaRPr b="0" i="1" sz="1600">
              <a:solidFill>
                <a:srgbClr val="5B6270"/>
              </a:solidFill>
              <a:latin typeface="Calibri"/>
              <a:ea typeface="Calibri"/>
              <a:cs typeface="Calibri"/>
              <a:sym typeface="Calibri"/>
            </a:endParaRPr>
          </a:p>
        </p:txBody>
      </p:sp>
      <p:sp>
        <p:nvSpPr>
          <p:cNvPr id="371" name="Google Shape;371;p35"/>
          <p:cNvSpPr txBox="1"/>
          <p:nvPr/>
        </p:nvSpPr>
        <p:spPr>
          <a:xfrm>
            <a:off x="777240" y="2029968"/>
            <a:ext cx="10607100" cy="492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1B7F4B"/>
                </a:solidFill>
                <a:latin typeface="Calibri"/>
                <a:ea typeface="Calibri"/>
                <a:cs typeface="Calibri"/>
                <a:sym typeface="Calibri"/>
              </a:rPr>
              <a:t>AFTER </a:t>
            </a:r>
            <a:r>
              <a:rPr b="1" i="0" lang="en-US" sz="1600">
                <a:solidFill>
                  <a:srgbClr val="1B7F4B"/>
                </a:solidFill>
                <a:latin typeface="Calibri"/>
                <a:ea typeface="Calibri"/>
                <a:cs typeface="Calibri"/>
                <a:sym typeface="Calibri"/>
              </a:rPr>
              <a:t>· </a:t>
            </a:r>
            <a:r>
              <a:rPr b="1" lang="en-US" sz="1600">
                <a:solidFill>
                  <a:srgbClr val="1B7F4B"/>
                </a:solidFill>
                <a:latin typeface="Calibri"/>
                <a:ea typeface="Calibri"/>
                <a:cs typeface="Calibri"/>
                <a:sym typeface="Calibri"/>
              </a:rPr>
              <a:t>96</a:t>
            </a:r>
            <a:r>
              <a:rPr b="1" i="0" lang="en-US" sz="1600">
                <a:solidFill>
                  <a:srgbClr val="1B7F4B"/>
                </a:solidFill>
                <a:latin typeface="Calibri"/>
                <a:ea typeface="Calibri"/>
                <a:cs typeface="Calibri"/>
                <a:sym typeface="Calibri"/>
              </a:rPr>
              <a:t>% instructions </a:t>
            </a:r>
            <a:r>
              <a:rPr b="1" lang="en-US" sz="1600">
                <a:solidFill>
                  <a:srgbClr val="1B7F4B"/>
                </a:solidFill>
                <a:latin typeface="Calibri"/>
                <a:ea typeface="Calibri"/>
                <a:cs typeface="Calibri"/>
                <a:sym typeface="Calibri"/>
              </a:rPr>
              <a:t>(298 missed of 8,510) </a:t>
            </a:r>
            <a:r>
              <a:rPr b="1" i="0" lang="en-US" sz="1600">
                <a:solidFill>
                  <a:srgbClr val="1B7F4B"/>
                </a:solidFill>
                <a:latin typeface="Calibri"/>
                <a:ea typeface="Calibri"/>
                <a:cs typeface="Calibri"/>
                <a:sym typeface="Calibri"/>
              </a:rPr>
              <a:t>· </a:t>
            </a:r>
            <a:r>
              <a:rPr b="1" lang="en-US" sz="1600">
                <a:solidFill>
                  <a:srgbClr val="1B7F4B"/>
                </a:solidFill>
                <a:latin typeface="Calibri"/>
                <a:ea typeface="Calibri"/>
                <a:cs typeface="Calibri"/>
                <a:sym typeface="Calibri"/>
              </a:rPr>
              <a:t>93</a:t>
            </a:r>
            <a:r>
              <a:rPr b="1" i="0" lang="en-US" sz="1600">
                <a:solidFill>
                  <a:srgbClr val="1B7F4B"/>
                </a:solidFill>
                <a:latin typeface="Calibri"/>
                <a:ea typeface="Calibri"/>
                <a:cs typeface="Calibri"/>
                <a:sym typeface="Calibri"/>
              </a:rPr>
              <a:t>% branches </a:t>
            </a:r>
            <a:r>
              <a:rPr b="1" lang="en-US" sz="1600">
                <a:solidFill>
                  <a:srgbClr val="1B7F4B"/>
                </a:solidFill>
                <a:latin typeface="Calibri"/>
                <a:ea typeface="Calibri"/>
                <a:cs typeface="Calibri"/>
                <a:sym typeface="Calibri"/>
              </a:rPr>
              <a:t>(37 </a:t>
            </a:r>
            <a:r>
              <a:rPr b="1" i="0" lang="en-US" sz="1600">
                <a:solidFill>
                  <a:srgbClr val="1B7F4B"/>
                </a:solidFill>
                <a:latin typeface="Calibri"/>
                <a:ea typeface="Calibri"/>
                <a:cs typeface="Calibri"/>
                <a:sym typeface="Calibri"/>
              </a:rPr>
              <a:t>of </a:t>
            </a:r>
            <a:r>
              <a:rPr b="1" lang="en-US" sz="1600">
                <a:solidFill>
                  <a:srgbClr val="1B7F4B"/>
                </a:solidFill>
                <a:latin typeface="Calibri"/>
                <a:ea typeface="Calibri"/>
                <a:cs typeface="Calibri"/>
                <a:sym typeface="Calibri"/>
              </a:rPr>
              <a:t>572)</a:t>
            </a:r>
            <a:endParaRPr sz="1600">
              <a:solidFill>
                <a:srgbClr val="B3261E"/>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1600">
              <a:solidFill>
                <a:srgbClr val="B3261E"/>
              </a:solidFill>
              <a:latin typeface="Calibri"/>
              <a:ea typeface="Calibri"/>
              <a:cs typeface="Calibri"/>
              <a:sym typeface="Calibri"/>
            </a:endParaRPr>
          </a:p>
        </p:txBody>
      </p:sp>
      <p:pic>
        <p:nvPicPr>
          <p:cNvPr descr="image4.png" id="372" name="Google Shape;372;p35"/>
          <p:cNvPicPr preferRelativeResize="0"/>
          <p:nvPr/>
        </p:nvPicPr>
        <p:blipFill rotWithShape="1">
          <a:blip r:embed="rId3">
            <a:alphaModFix/>
          </a:blip>
          <a:srcRect b="0" l="0" r="4325" t="0"/>
          <a:stretch/>
        </p:blipFill>
        <p:spPr>
          <a:xfrm>
            <a:off x="776097" y="2613323"/>
            <a:ext cx="10858747" cy="28072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6"/>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5 · TESTING ACTIVITIES</a:t>
            </a:r>
            <a:endParaRPr/>
          </a:p>
        </p:txBody>
      </p:sp>
      <p:sp>
        <p:nvSpPr>
          <p:cNvPr id="378" name="Google Shape;378;p36"/>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Mutation testing with PIT</a:t>
            </a:r>
            <a:endParaRPr/>
          </a:p>
        </p:txBody>
      </p:sp>
      <p:sp>
        <p:nvSpPr>
          <p:cNvPr id="379" name="Google Shape;379;p36"/>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36"/>
          <p:cNvSpPr txBox="1"/>
          <p:nvPr/>
        </p:nvSpPr>
        <p:spPr>
          <a:xfrm>
            <a:off x="777240" y="1735526"/>
            <a:ext cx="5193900" cy="27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B3261E"/>
                </a:solidFill>
                <a:latin typeface="Calibri"/>
                <a:ea typeface="Calibri"/>
                <a:cs typeface="Calibri"/>
                <a:sym typeface="Calibri"/>
              </a:rPr>
              <a:t>BEFORE</a:t>
            </a:r>
            <a:endParaRPr b="1" i="0" sz="1800">
              <a:solidFill>
                <a:srgbClr val="B3261E"/>
              </a:solidFill>
              <a:latin typeface="Calibri"/>
              <a:ea typeface="Calibri"/>
              <a:cs typeface="Calibri"/>
              <a:sym typeface="Calibri"/>
            </a:endParaRPr>
          </a:p>
        </p:txBody>
      </p:sp>
      <p:pic>
        <p:nvPicPr>
          <p:cNvPr descr="image5.png" id="381" name="Google Shape;381;p36"/>
          <p:cNvPicPr preferRelativeResize="0"/>
          <p:nvPr/>
        </p:nvPicPr>
        <p:blipFill rotWithShape="1">
          <a:blip r:embed="rId3">
            <a:alphaModFix/>
          </a:blip>
          <a:srcRect b="0" l="1468" r="0" t="0"/>
          <a:stretch/>
        </p:blipFill>
        <p:spPr>
          <a:xfrm>
            <a:off x="777132" y="2221158"/>
            <a:ext cx="7237124" cy="3547516"/>
          </a:xfrm>
          <a:prstGeom prst="rect">
            <a:avLst/>
          </a:prstGeom>
          <a:noFill/>
          <a:ln>
            <a:noFill/>
          </a:ln>
        </p:spPr>
      </p:pic>
      <p:sp>
        <p:nvSpPr>
          <p:cNvPr id="382" name="Google Shape;382;p36"/>
          <p:cNvSpPr txBox="1"/>
          <p:nvPr/>
        </p:nvSpPr>
        <p:spPr>
          <a:xfrm>
            <a:off x="8195233" y="2006856"/>
            <a:ext cx="3769200" cy="34914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Baseline: </a:t>
            </a:r>
            <a:r>
              <a:rPr lang="en-US" sz="1650">
                <a:solidFill>
                  <a:srgbClr val="16181D"/>
                </a:solidFill>
                <a:latin typeface="Calibri"/>
                <a:ea typeface="Calibri"/>
                <a:cs typeface="Calibri"/>
                <a:sym typeface="Calibri"/>
              </a:rPr>
              <a:t>line coverage 59% (1,185/2,012), mutation coverage 47% (369/784), test strength 75% (369/494)</a:t>
            </a:r>
            <a:endParaRPr sz="1650">
              <a:solidFill>
                <a:srgbClr val="16181D"/>
              </a:solidFill>
              <a:latin typeface="Calibri"/>
              <a:ea typeface="Calibri"/>
              <a:cs typeface="Calibri"/>
              <a:sym typeface="Calibri"/>
            </a:endParaRPr>
          </a:p>
          <a:p>
            <a:pPr indent="-180975" lvl="0" marL="285750" marR="0" rtl="0" algn="l">
              <a:lnSpc>
                <a:spcPct val="106000"/>
              </a:lnSpc>
              <a:spcBef>
                <a:spcPts val="500"/>
              </a:spcBef>
              <a:spcAft>
                <a:spcPts val="0"/>
              </a:spcAft>
              <a:buClr>
                <a:schemeClr val="dk1"/>
              </a:buClr>
              <a:buSzPts val="1650"/>
              <a:buFont typeface="Arial"/>
              <a:buNone/>
            </a:pPr>
            <a:r>
              <a:t/>
            </a:r>
            <a:endParaRPr sz="1650">
              <a:solidFill>
                <a:srgbClr val="16181D"/>
              </a:solidFill>
              <a:latin typeface="Calibri"/>
              <a:ea typeface="Calibri"/>
              <a:cs typeface="Calibri"/>
              <a:sym typeface="Calibri"/>
            </a:endParaRPr>
          </a:p>
          <a:p>
            <a:pPr indent="0" lvl="0" marL="0" marR="0" rtl="0" algn="l">
              <a:lnSpc>
                <a:spcPct val="106000"/>
              </a:lnSpc>
              <a:spcBef>
                <a:spcPts val="50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Interventions: </a:t>
            </a:r>
            <a:r>
              <a:rPr lang="en-US" sz="1650">
                <a:solidFill>
                  <a:srgbClr val="16181D"/>
                </a:solidFill>
                <a:latin typeface="Calibri"/>
                <a:ea typeface="Calibri"/>
                <a:cs typeface="Calibri"/>
                <a:sym typeface="Calibri"/>
              </a:rPr>
              <a:t>new tests for previously unconsidered combinations of conditions, more accurate verification of return values and side effects, tightened assertions.</a:t>
            </a:r>
            <a:endParaRPr sz="1650">
              <a:solidFill>
                <a:srgbClr val="16181D"/>
              </a:solidFill>
              <a:latin typeface="Calibri"/>
              <a:ea typeface="Calibri"/>
              <a:cs typeface="Calibri"/>
              <a:sym typeface="Calibri"/>
            </a:endParaRPr>
          </a:p>
          <a:p>
            <a:pPr indent="-180975" lvl="0" marL="285750" marR="0" rtl="0" algn="l">
              <a:lnSpc>
                <a:spcPct val="106000"/>
              </a:lnSpc>
              <a:spcBef>
                <a:spcPts val="500"/>
              </a:spcBef>
              <a:spcAft>
                <a:spcPts val="0"/>
              </a:spcAft>
              <a:buClr>
                <a:schemeClr val="dk1"/>
              </a:buClr>
              <a:buSzPts val="1650"/>
              <a:buFont typeface="Arial"/>
              <a:buNone/>
            </a:pPr>
            <a:r>
              <a:t/>
            </a:r>
            <a:endParaRPr sz="1650">
              <a:solidFill>
                <a:srgbClr val="16181D"/>
              </a:solidFill>
              <a:latin typeface="Calibri"/>
              <a:ea typeface="Calibri"/>
              <a:cs typeface="Calibri"/>
              <a:sym typeface="Calibri"/>
            </a:endParaRPr>
          </a:p>
          <a:p>
            <a:pPr indent="0" lvl="0" marL="0" marR="0" rtl="0" algn="l">
              <a:lnSpc>
                <a:spcPct val="106000"/>
              </a:lnSpc>
              <a:spcBef>
                <a:spcPts val="50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Final results: </a:t>
            </a:r>
            <a:r>
              <a:rPr lang="en-US" sz="1650">
                <a:solidFill>
                  <a:srgbClr val="16181D"/>
                </a:solidFill>
                <a:latin typeface="Calibri"/>
                <a:ea typeface="Calibri"/>
                <a:cs typeface="Calibri"/>
                <a:sym typeface="Calibri"/>
              </a:rPr>
              <a:t>line coverage 99% (2,558/2,590), mutation coverage 98% (976/999), test strength 98% (976/997).</a:t>
            </a:r>
            <a:endParaRPr sz="1650">
              <a:solidFill>
                <a:srgbClr val="5B627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5 · TESTING ACTIVITIES</a:t>
            </a:r>
            <a:endParaRPr/>
          </a:p>
        </p:txBody>
      </p:sp>
      <p:sp>
        <p:nvSpPr>
          <p:cNvPr id="388" name="Google Shape;388;p37"/>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Mutation testing with PIT</a:t>
            </a:r>
            <a:endParaRPr/>
          </a:p>
        </p:txBody>
      </p:sp>
      <p:sp>
        <p:nvSpPr>
          <p:cNvPr id="389" name="Google Shape;389;p37"/>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90" name="Google Shape;390;p37"/>
          <p:cNvSpPr txBox="1"/>
          <p:nvPr/>
        </p:nvSpPr>
        <p:spPr>
          <a:xfrm>
            <a:off x="777240" y="1722040"/>
            <a:ext cx="5180400" cy="523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B7F4B"/>
                </a:solidFill>
                <a:latin typeface="Calibri"/>
                <a:ea typeface="Calibri"/>
                <a:cs typeface="Calibri"/>
                <a:sym typeface="Calibri"/>
              </a:rPr>
              <a:t>AFTER</a:t>
            </a:r>
            <a:endParaRPr sz="1800">
              <a:solidFill>
                <a:srgbClr val="B3261E"/>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1600">
              <a:solidFill>
                <a:srgbClr val="B3261E"/>
              </a:solidFill>
              <a:latin typeface="Calibri"/>
              <a:ea typeface="Calibri"/>
              <a:cs typeface="Calibri"/>
              <a:sym typeface="Calibri"/>
            </a:endParaRPr>
          </a:p>
        </p:txBody>
      </p:sp>
      <p:sp>
        <p:nvSpPr>
          <p:cNvPr id="391" name="Google Shape;391;p37"/>
          <p:cNvSpPr txBox="1"/>
          <p:nvPr/>
        </p:nvSpPr>
        <p:spPr>
          <a:xfrm>
            <a:off x="8161812" y="1980119"/>
            <a:ext cx="3769200" cy="34914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Baseline: </a:t>
            </a:r>
            <a:r>
              <a:rPr lang="en-US" sz="1650">
                <a:solidFill>
                  <a:srgbClr val="16181D"/>
                </a:solidFill>
                <a:latin typeface="Calibri"/>
                <a:ea typeface="Calibri"/>
                <a:cs typeface="Calibri"/>
                <a:sym typeface="Calibri"/>
              </a:rPr>
              <a:t>line coverage 59% (1,185/2,012), mutation coverage 47% (369/784), test strength 75% (369/494)</a:t>
            </a:r>
            <a:endParaRPr sz="1650">
              <a:solidFill>
                <a:srgbClr val="16181D"/>
              </a:solidFill>
              <a:latin typeface="Calibri"/>
              <a:ea typeface="Calibri"/>
              <a:cs typeface="Calibri"/>
              <a:sym typeface="Calibri"/>
            </a:endParaRPr>
          </a:p>
          <a:p>
            <a:pPr indent="-180975" lvl="0" marL="285750" marR="0" rtl="0" algn="l">
              <a:lnSpc>
                <a:spcPct val="106000"/>
              </a:lnSpc>
              <a:spcBef>
                <a:spcPts val="500"/>
              </a:spcBef>
              <a:spcAft>
                <a:spcPts val="0"/>
              </a:spcAft>
              <a:buClr>
                <a:schemeClr val="dk1"/>
              </a:buClr>
              <a:buSzPts val="1650"/>
              <a:buFont typeface="Arial"/>
              <a:buNone/>
            </a:pPr>
            <a:r>
              <a:t/>
            </a:r>
            <a:endParaRPr sz="1650">
              <a:solidFill>
                <a:srgbClr val="16181D"/>
              </a:solidFill>
              <a:latin typeface="Calibri"/>
              <a:ea typeface="Calibri"/>
              <a:cs typeface="Calibri"/>
              <a:sym typeface="Calibri"/>
            </a:endParaRPr>
          </a:p>
          <a:p>
            <a:pPr indent="0" lvl="0" marL="0" marR="0" rtl="0" algn="l">
              <a:lnSpc>
                <a:spcPct val="106000"/>
              </a:lnSpc>
              <a:spcBef>
                <a:spcPts val="50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Interventions: </a:t>
            </a:r>
            <a:r>
              <a:rPr lang="en-US" sz="1650">
                <a:solidFill>
                  <a:srgbClr val="16181D"/>
                </a:solidFill>
                <a:latin typeface="Calibri"/>
                <a:ea typeface="Calibri"/>
                <a:cs typeface="Calibri"/>
                <a:sym typeface="Calibri"/>
              </a:rPr>
              <a:t>new tests for previously unconsidered combinations of conditions, more accurate verification of return values and side effects, tightened assertions.</a:t>
            </a:r>
            <a:endParaRPr sz="1650">
              <a:solidFill>
                <a:srgbClr val="16181D"/>
              </a:solidFill>
              <a:latin typeface="Calibri"/>
              <a:ea typeface="Calibri"/>
              <a:cs typeface="Calibri"/>
              <a:sym typeface="Calibri"/>
            </a:endParaRPr>
          </a:p>
          <a:p>
            <a:pPr indent="-180975" lvl="0" marL="285750" marR="0" rtl="0" algn="l">
              <a:lnSpc>
                <a:spcPct val="106000"/>
              </a:lnSpc>
              <a:spcBef>
                <a:spcPts val="500"/>
              </a:spcBef>
              <a:spcAft>
                <a:spcPts val="0"/>
              </a:spcAft>
              <a:buClr>
                <a:schemeClr val="dk1"/>
              </a:buClr>
              <a:buSzPts val="1650"/>
              <a:buFont typeface="Arial"/>
              <a:buNone/>
            </a:pPr>
            <a:r>
              <a:t/>
            </a:r>
            <a:endParaRPr sz="1650">
              <a:solidFill>
                <a:srgbClr val="16181D"/>
              </a:solidFill>
              <a:latin typeface="Calibri"/>
              <a:ea typeface="Calibri"/>
              <a:cs typeface="Calibri"/>
              <a:sym typeface="Calibri"/>
            </a:endParaRPr>
          </a:p>
          <a:p>
            <a:pPr indent="0" lvl="0" marL="0" marR="0" rtl="0" algn="l">
              <a:lnSpc>
                <a:spcPct val="106000"/>
              </a:lnSpc>
              <a:spcBef>
                <a:spcPts val="500"/>
              </a:spcBef>
              <a:spcAft>
                <a:spcPts val="0"/>
              </a:spcAft>
              <a:buNone/>
            </a:pPr>
            <a:r>
              <a:rPr b="1" lang="en-US" sz="1700">
                <a:solidFill>
                  <a:srgbClr val="B8860B"/>
                </a:solidFill>
                <a:latin typeface="Calibri"/>
                <a:ea typeface="Calibri"/>
                <a:cs typeface="Calibri"/>
                <a:sym typeface="Calibri"/>
              </a:rPr>
              <a:t>▸  </a:t>
            </a:r>
            <a:r>
              <a:rPr b="1" lang="en-US" sz="1650">
                <a:solidFill>
                  <a:srgbClr val="16181D"/>
                </a:solidFill>
                <a:latin typeface="Calibri"/>
                <a:ea typeface="Calibri"/>
                <a:cs typeface="Calibri"/>
                <a:sym typeface="Calibri"/>
              </a:rPr>
              <a:t>Final results: </a:t>
            </a:r>
            <a:r>
              <a:rPr lang="en-US" sz="1650">
                <a:solidFill>
                  <a:srgbClr val="16181D"/>
                </a:solidFill>
                <a:latin typeface="Calibri"/>
                <a:ea typeface="Calibri"/>
                <a:cs typeface="Calibri"/>
                <a:sym typeface="Calibri"/>
              </a:rPr>
              <a:t>line coverage 99% (2,558/2,590), mutation coverage 98% (976/999), test strength 98% (976/997).</a:t>
            </a:r>
            <a:endParaRPr sz="1650">
              <a:solidFill>
                <a:srgbClr val="5B6270"/>
              </a:solidFill>
              <a:latin typeface="Calibri"/>
              <a:ea typeface="Calibri"/>
              <a:cs typeface="Calibri"/>
              <a:sym typeface="Calibri"/>
            </a:endParaRPr>
          </a:p>
        </p:txBody>
      </p:sp>
      <p:pic>
        <p:nvPicPr>
          <p:cNvPr descr="image6.png" id="392" name="Google Shape;392;p37"/>
          <p:cNvPicPr preferRelativeResize="0"/>
          <p:nvPr/>
        </p:nvPicPr>
        <p:blipFill rotWithShape="1">
          <a:blip r:embed="rId3">
            <a:alphaModFix/>
          </a:blip>
          <a:srcRect b="388" l="1544" r="3705" t="0"/>
          <a:stretch/>
        </p:blipFill>
        <p:spPr>
          <a:xfrm>
            <a:off x="778904" y="2249011"/>
            <a:ext cx="7172945" cy="34648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p38"/>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38"/>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6</a:t>
            </a:r>
            <a:endParaRPr/>
          </a:p>
        </p:txBody>
      </p:sp>
      <p:sp>
        <p:nvSpPr>
          <p:cNvPr id="400" name="Google Shape;400;p38"/>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Performance testing</a:t>
            </a:r>
            <a:endParaRPr/>
          </a:p>
        </p:txBody>
      </p:sp>
      <p:sp>
        <p:nvSpPr>
          <p:cNvPr id="401" name="Google Shape;401;p38"/>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9"/>
          <p:cNvSpPr txBox="1"/>
          <p:nvPr/>
        </p:nvSpPr>
        <p:spPr>
          <a:xfrm>
            <a:off x="777240" y="438912"/>
            <a:ext cx="10607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6 · PERFORMANCE TESTING</a:t>
            </a:r>
            <a:endParaRPr/>
          </a:p>
        </p:txBody>
      </p:sp>
      <p:sp>
        <p:nvSpPr>
          <p:cNvPr id="407" name="Google Shape;407;p39"/>
          <p:cNvSpPr txBox="1"/>
          <p:nvPr/>
        </p:nvSpPr>
        <p:spPr>
          <a:xfrm>
            <a:off x="777240" y="749808"/>
            <a:ext cx="10607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How we approached performance</a:t>
            </a:r>
            <a:endParaRPr/>
          </a:p>
        </p:txBody>
      </p:sp>
      <p:sp>
        <p:nvSpPr>
          <p:cNvPr id="408" name="Google Shape;408;p39"/>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39"/>
          <p:cNvSpPr txBox="1"/>
          <p:nvPr/>
        </p:nvSpPr>
        <p:spPr>
          <a:xfrm>
            <a:off x="777240" y="1943101"/>
            <a:ext cx="10607100" cy="7773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None/>
            </a:pPr>
            <a:r>
              <a:rPr b="1" i="0" lang="en-US" sz="1600">
                <a:solidFill>
                  <a:srgbClr val="B8860B"/>
                </a:solidFill>
                <a:latin typeface="Calibri"/>
                <a:ea typeface="Calibri"/>
                <a:cs typeface="Calibri"/>
                <a:sym typeface="Calibri"/>
              </a:rPr>
              <a:t>▸  </a:t>
            </a:r>
            <a:r>
              <a:rPr lang="en-US" sz="1600">
                <a:solidFill>
                  <a:srgbClr val="16181D"/>
                </a:solidFill>
                <a:latin typeface="Calibri"/>
                <a:ea typeface="Calibri"/>
                <a:cs typeface="Calibri"/>
                <a:sym typeface="Calibri"/>
              </a:rPr>
              <a:t>T</a:t>
            </a:r>
            <a:r>
              <a:rPr b="0" i="0" lang="en-US" sz="1600">
                <a:solidFill>
                  <a:srgbClr val="16181D"/>
                </a:solidFill>
                <a:latin typeface="Calibri"/>
                <a:ea typeface="Calibri"/>
                <a:cs typeface="Calibri"/>
                <a:sym typeface="Calibri"/>
              </a:rPr>
              <a:t>he platform had already been optimized for the Software Sustainability exam, but it grew with the features added for the Advanced Techniques exam, so the whole cycle was repeated on the current codebase.</a:t>
            </a:r>
            <a:endParaRPr b="0" i="0" sz="16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i="0" lang="en-US" sz="1600">
                <a:solidFill>
                  <a:srgbClr val="B8860B"/>
                </a:solidFill>
                <a:latin typeface="Calibri"/>
                <a:ea typeface="Calibri"/>
                <a:cs typeface="Calibri"/>
                <a:sym typeface="Calibri"/>
              </a:rPr>
              <a:t>▸  </a:t>
            </a:r>
            <a:r>
              <a:rPr b="1" i="0" lang="en-US" sz="1600">
                <a:solidFill>
                  <a:srgbClr val="16181D"/>
                </a:solidFill>
                <a:latin typeface="Calibri"/>
                <a:ea typeface="Calibri"/>
                <a:cs typeface="Calibri"/>
                <a:sym typeface="Calibri"/>
              </a:rPr>
              <a:t>Method: </a:t>
            </a:r>
            <a:r>
              <a:rPr b="0" i="0" lang="en-US" sz="1600">
                <a:solidFill>
                  <a:srgbClr val="16181D"/>
                </a:solidFill>
                <a:latin typeface="Calibri"/>
                <a:ea typeface="Calibri"/>
                <a:cs typeface="Calibri"/>
                <a:sym typeface="Calibri"/>
              </a:rPr>
              <a:t>measure first, change only what the measurement justifies, then measure again under identical conditions.</a:t>
            </a:r>
            <a:endParaRPr b="0" i="0" sz="1600">
              <a:solidFill>
                <a:srgbClr val="16181D"/>
              </a:solidFill>
              <a:latin typeface="Calibri"/>
              <a:ea typeface="Calibri"/>
              <a:cs typeface="Calibri"/>
              <a:sym typeface="Calibri"/>
            </a:endParaRPr>
          </a:p>
        </p:txBody>
      </p:sp>
      <p:sp>
        <p:nvSpPr>
          <p:cNvPr id="410" name="Google Shape;410;p39"/>
          <p:cNvSpPr/>
          <p:nvPr/>
        </p:nvSpPr>
        <p:spPr>
          <a:xfrm>
            <a:off x="777240" y="4458479"/>
            <a:ext cx="2377500" cy="17373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000">
                <a:solidFill>
                  <a:srgbClr val="B8860B"/>
                </a:solidFill>
                <a:latin typeface="Calibri"/>
                <a:ea typeface="Calibri"/>
                <a:cs typeface="Calibri"/>
                <a:sym typeface="Calibri"/>
              </a:rPr>
              <a:t>STEP 1  ·  MEASURE</a:t>
            </a:r>
            <a:endParaRPr/>
          </a:p>
          <a:p>
            <a:pPr indent="0" lvl="0" marL="0" marR="0" rtl="0" algn="l">
              <a:lnSpc>
                <a:spcPct val="106000"/>
              </a:lnSpc>
              <a:spcBef>
                <a:spcPts val="300"/>
              </a:spcBef>
              <a:spcAft>
                <a:spcPts val="0"/>
              </a:spcAft>
              <a:buNone/>
            </a:pPr>
            <a:r>
              <a:rPr b="1" i="0" lang="en-US" sz="1600">
                <a:solidFill>
                  <a:srgbClr val="16181D"/>
                </a:solidFill>
                <a:latin typeface="Calibri"/>
                <a:ea typeface="Calibri"/>
                <a:cs typeface="Calibri"/>
                <a:sym typeface="Calibri"/>
              </a:rPr>
              <a:t>JMH</a:t>
            </a:r>
            <a:endParaRPr/>
          </a:p>
          <a:p>
            <a:pPr indent="0" lvl="0" marL="0" marR="0" rtl="0" algn="l">
              <a:lnSpc>
                <a:spcPct val="106000"/>
              </a:lnSpc>
              <a:spcBef>
                <a:spcPts val="400"/>
              </a:spcBef>
              <a:spcAft>
                <a:spcPts val="0"/>
              </a:spcAft>
              <a:buNone/>
            </a:pPr>
            <a:r>
              <a:rPr b="0" i="0" lang="en-US" sz="1300">
                <a:solidFill>
                  <a:srgbClr val="5B6270"/>
                </a:solidFill>
                <a:latin typeface="Calibri"/>
                <a:ea typeface="Calibri"/>
                <a:cs typeface="Calibri"/>
                <a:sym typeface="Calibri"/>
              </a:rPr>
              <a:t>Microbenchmarks on the service layer establish a repeatable baseline in ns/op.</a:t>
            </a:r>
            <a:endParaRPr b="0" i="0" sz="1300">
              <a:solidFill>
                <a:srgbClr val="5B6270"/>
              </a:solidFill>
              <a:latin typeface="Calibri"/>
              <a:ea typeface="Calibri"/>
              <a:cs typeface="Calibri"/>
              <a:sym typeface="Calibri"/>
            </a:endParaRPr>
          </a:p>
        </p:txBody>
      </p:sp>
      <p:sp>
        <p:nvSpPr>
          <p:cNvPr id="411" name="Google Shape;411;p39"/>
          <p:cNvSpPr/>
          <p:nvPr/>
        </p:nvSpPr>
        <p:spPr>
          <a:xfrm>
            <a:off x="3520440" y="4458479"/>
            <a:ext cx="2377500" cy="17373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000">
                <a:solidFill>
                  <a:srgbClr val="B8860B"/>
                </a:solidFill>
                <a:latin typeface="Calibri"/>
                <a:ea typeface="Calibri"/>
                <a:cs typeface="Calibri"/>
                <a:sym typeface="Calibri"/>
              </a:rPr>
              <a:t>STEP 2  ·  DIAGNOSE</a:t>
            </a:r>
            <a:endParaRPr/>
          </a:p>
          <a:p>
            <a:pPr indent="0" lvl="0" marL="0" marR="0" rtl="0" algn="l">
              <a:lnSpc>
                <a:spcPct val="106000"/>
              </a:lnSpc>
              <a:spcBef>
                <a:spcPts val="300"/>
              </a:spcBef>
              <a:spcAft>
                <a:spcPts val="0"/>
              </a:spcAft>
              <a:buNone/>
            </a:pPr>
            <a:r>
              <a:rPr b="1" i="0" lang="en-US" sz="1600">
                <a:solidFill>
                  <a:srgbClr val="16181D"/>
                </a:solidFill>
                <a:latin typeface="Calibri"/>
                <a:ea typeface="Calibri"/>
                <a:cs typeface="Calibri"/>
                <a:sym typeface="Calibri"/>
              </a:rPr>
              <a:t>Creedengo</a:t>
            </a:r>
            <a:endParaRPr b="1" i="0" sz="1600">
              <a:solidFill>
                <a:srgbClr val="16181D"/>
              </a:solidFill>
              <a:latin typeface="Calibri"/>
              <a:ea typeface="Calibri"/>
              <a:cs typeface="Calibri"/>
              <a:sym typeface="Calibri"/>
            </a:endParaRPr>
          </a:p>
          <a:p>
            <a:pPr indent="0" lvl="0" marL="0" marR="0" rtl="0" algn="l">
              <a:lnSpc>
                <a:spcPct val="106000"/>
              </a:lnSpc>
              <a:spcBef>
                <a:spcPts val="400"/>
              </a:spcBef>
              <a:spcAft>
                <a:spcPts val="0"/>
              </a:spcAft>
              <a:buNone/>
            </a:pPr>
            <a:r>
              <a:rPr b="0" i="0" lang="en-US" sz="1300">
                <a:solidFill>
                  <a:srgbClr val="5B6270"/>
                </a:solidFill>
                <a:latin typeface="Calibri"/>
                <a:ea typeface="Calibri"/>
                <a:cs typeface="Calibri"/>
                <a:sym typeface="Calibri"/>
              </a:rPr>
              <a:t>Static analysis points at the code patterns that waste CPU, memory and database I/O.</a:t>
            </a:r>
            <a:endParaRPr b="0" i="0" sz="1300">
              <a:solidFill>
                <a:srgbClr val="5B6270"/>
              </a:solidFill>
              <a:latin typeface="Calibri"/>
              <a:ea typeface="Calibri"/>
              <a:cs typeface="Calibri"/>
              <a:sym typeface="Calibri"/>
            </a:endParaRPr>
          </a:p>
        </p:txBody>
      </p:sp>
      <p:sp>
        <p:nvSpPr>
          <p:cNvPr id="412" name="Google Shape;412;p39"/>
          <p:cNvSpPr/>
          <p:nvPr/>
        </p:nvSpPr>
        <p:spPr>
          <a:xfrm>
            <a:off x="6263640" y="4458479"/>
            <a:ext cx="2377500" cy="17373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000">
                <a:solidFill>
                  <a:srgbClr val="B8860B"/>
                </a:solidFill>
                <a:latin typeface="Calibri"/>
                <a:ea typeface="Calibri"/>
                <a:cs typeface="Calibri"/>
                <a:sym typeface="Calibri"/>
              </a:rPr>
              <a:t>STEP 3  ·  ACT</a:t>
            </a:r>
            <a:endParaRPr/>
          </a:p>
          <a:p>
            <a:pPr indent="0" lvl="0" marL="0" marR="0" rtl="0" algn="l">
              <a:lnSpc>
                <a:spcPct val="106000"/>
              </a:lnSpc>
              <a:spcBef>
                <a:spcPts val="300"/>
              </a:spcBef>
              <a:spcAft>
                <a:spcPts val="0"/>
              </a:spcAft>
              <a:buNone/>
            </a:pPr>
            <a:r>
              <a:rPr b="1" i="0" lang="en-US" sz="1600">
                <a:solidFill>
                  <a:srgbClr val="16181D"/>
                </a:solidFill>
                <a:latin typeface="Calibri"/>
                <a:ea typeface="Calibri"/>
                <a:cs typeface="Calibri"/>
                <a:sym typeface="Calibri"/>
              </a:rPr>
              <a:t>Impact-driven fixes</a:t>
            </a:r>
            <a:endParaRPr/>
          </a:p>
          <a:p>
            <a:pPr indent="0" lvl="0" marL="0" marR="0" rtl="0" algn="l">
              <a:lnSpc>
                <a:spcPct val="106000"/>
              </a:lnSpc>
              <a:spcBef>
                <a:spcPts val="400"/>
              </a:spcBef>
              <a:spcAft>
                <a:spcPts val="0"/>
              </a:spcAft>
              <a:buNone/>
            </a:pPr>
            <a:r>
              <a:rPr b="0" i="0" lang="en-US" sz="1300">
                <a:solidFill>
                  <a:srgbClr val="5B6270"/>
                </a:solidFill>
                <a:latin typeface="Calibri"/>
                <a:ea typeface="Calibri"/>
                <a:cs typeface="Calibri"/>
                <a:sym typeface="Calibri"/>
              </a:rPr>
              <a:t>Findings are prioritized by their real cost, not by how often they occur.</a:t>
            </a:r>
            <a:endParaRPr b="0" i="0" sz="1300">
              <a:solidFill>
                <a:srgbClr val="5B6270"/>
              </a:solidFill>
              <a:latin typeface="Calibri"/>
              <a:ea typeface="Calibri"/>
              <a:cs typeface="Calibri"/>
              <a:sym typeface="Calibri"/>
            </a:endParaRPr>
          </a:p>
        </p:txBody>
      </p:sp>
      <p:sp>
        <p:nvSpPr>
          <p:cNvPr id="413" name="Google Shape;413;p39"/>
          <p:cNvSpPr/>
          <p:nvPr/>
        </p:nvSpPr>
        <p:spPr>
          <a:xfrm>
            <a:off x="9006840" y="4458479"/>
            <a:ext cx="2377500" cy="1737300"/>
          </a:xfrm>
          <a:prstGeom prst="roundRect">
            <a:avLst>
              <a:gd fmla="val 8000" name="adj"/>
            </a:avLst>
          </a:prstGeom>
          <a:solidFill>
            <a:srgbClr val="F3F4F6"/>
          </a:solidFill>
          <a:ln>
            <a:noFill/>
          </a:ln>
        </p:spPr>
        <p:txBody>
          <a:bodyPr anchorCtr="0" anchor="t" bIns="91425" lIns="182875" spcFirstLastPara="1" rIns="182875" wrap="square" tIns="91425">
            <a:noAutofit/>
          </a:bodyPr>
          <a:lstStyle/>
          <a:p>
            <a:pPr indent="0" lvl="0" marL="0" marR="0" rtl="0" algn="l">
              <a:lnSpc>
                <a:spcPct val="106000"/>
              </a:lnSpc>
              <a:spcBef>
                <a:spcPts val="0"/>
              </a:spcBef>
              <a:spcAft>
                <a:spcPts val="0"/>
              </a:spcAft>
              <a:buNone/>
            </a:pPr>
            <a:r>
              <a:rPr b="1" i="0" lang="en-US" sz="1000">
                <a:solidFill>
                  <a:srgbClr val="B8860B"/>
                </a:solidFill>
                <a:latin typeface="Calibri"/>
                <a:ea typeface="Calibri"/>
                <a:cs typeface="Calibri"/>
                <a:sym typeface="Calibri"/>
              </a:rPr>
              <a:t>STEP 4  ·  VERIFY</a:t>
            </a:r>
            <a:endParaRPr/>
          </a:p>
          <a:p>
            <a:pPr indent="0" lvl="0" marL="0" marR="0" rtl="0" algn="l">
              <a:lnSpc>
                <a:spcPct val="106000"/>
              </a:lnSpc>
              <a:spcBef>
                <a:spcPts val="300"/>
              </a:spcBef>
              <a:spcAft>
                <a:spcPts val="0"/>
              </a:spcAft>
              <a:buNone/>
            </a:pPr>
            <a:r>
              <a:rPr b="1" i="0" lang="en-US" sz="1600">
                <a:solidFill>
                  <a:srgbClr val="16181D"/>
                </a:solidFill>
                <a:latin typeface="Calibri"/>
                <a:ea typeface="Calibri"/>
                <a:cs typeface="Calibri"/>
                <a:sym typeface="Calibri"/>
              </a:rPr>
              <a:t>JMH re-run</a:t>
            </a:r>
            <a:endParaRPr/>
          </a:p>
          <a:p>
            <a:pPr indent="0" lvl="0" marL="0" marR="0" rtl="0" algn="l">
              <a:lnSpc>
                <a:spcPct val="106000"/>
              </a:lnSpc>
              <a:spcBef>
                <a:spcPts val="400"/>
              </a:spcBef>
              <a:spcAft>
                <a:spcPts val="0"/>
              </a:spcAft>
              <a:buNone/>
            </a:pPr>
            <a:r>
              <a:rPr b="0" i="0" lang="en-US" sz="1300">
                <a:solidFill>
                  <a:srgbClr val="5B6270"/>
                </a:solidFill>
                <a:latin typeface="Calibri"/>
                <a:ea typeface="Calibri"/>
                <a:cs typeface="Calibri"/>
                <a:sym typeface="Calibri"/>
              </a:rPr>
              <a:t>The same benchmarks, the same configuration: the before / after gap is the evidence.</a:t>
            </a:r>
            <a:endParaRPr b="0" i="0" sz="1300">
              <a:solidFill>
                <a:srgbClr val="5B6270"/>
              </a:solidFill>
              <a:latin typeface="Calibri"/>
              <a:ea typeface="Calibri"/>
              <a:cs typeface="Calibri"/>
              <a:sym typeface="Calibri"/>
            </a:endParaRPr>
          </a:p>
        </p:txBody>
      </p:sp>
      <p:cxnSp>
        <p:nvCxnSpPr>
          <p:cNvPr id="414" name="Google Shape;414;p39"/>
          <p:cNvCxnSpPr/>
          <p:nvPr/>
        </p:nvCxnSpPr>
        <p:spPr>
          <a:xfrm>
            <a:off x="3209544" y="5327158"/>
            <a:ext cx="255900" cy="0"/>
          </a:xfrm>
          <a:prstGeom prst="straightConnector1">
            <a:avLst/>
          </a:prstGeom>
          <a:noFill/>
          <a:ln cap="flat" cmpd="sng" w="22225">
            <a:solidFill>
              <a:srgbClr val="B8860B"/>
            </a:solidFill>
            <a:prstDash val="solid"/>
            <a:round/>
            <a:headEnd len="sm" w="sm" type="none"/>
            <a:tailEnd len="med" w="med" type="triangle"/>
          </a:ln>
        </p:spPr>
      </p:cxnSp>
      <p:cxnSp>
        <p:nvCxnSpPr>
          <p:cNvPr id="415" name="Google Shape;415;p39"/>
          <p:cNvCxnSpPr/>
          <p:nvPr/>
        </p:nvCxnSpPr>
        <p:spPr>
          <a:xfrm>
            <a:off x="5952744" y="5327158"/>
            <a:ext cx="255900" cy="0"/>
          </a:xfrm>
          <a:prstGeom prst="straightConnector1">
            <a:avLst/>
          </a:prstGeom>
          <a:noFill/>
          <a:ln cap="flat" cmpd="sng" w="22225">
            <a:solidFill>
              <a:srgbClr val="B8860B"/>
            </a:solidFill>
            <a:prstDash val="solid"/>
            <a:round/>
            <a:headEnd len="sm" w="sm" type="none"/>
            <a:tailEnd len="med" w="med" type="triangle"/>
          </a:ln>
        </p:spPr>
      </p:cxnSp>
      <p:cxnSp>
        <p:nvCxnSpPr>
          <p:cNvPr id="416" name="Google Shape;416;p39"/>
          <p:cNvCxnSpPr/>
          <p:nvPr/>
        </p:nvCxnSpPr>
        <p:spPr>
          <a:xfrm>
            <a:off x="8695944" y="5327158"/>
            <a:ext cx="255900" cy="0"/>
          </a:xfrm>
          <a:prstGeom prst="straightConnector1">
            <a:avLst/>
          </a:prstGeom>
          <a:noFill/>
          <a:ln cap="flat" cmpd="sng" w="22225">
            <a:solidFill>
              <a:srgbClr val="B8860B"/>
            </a:solidFill>
            <a:prstDash val="solid"/>
            <a:round/>
            <a:headEnd len="sm" w="sm" type="none"/>
            <a:tailEnd len="med" w="med" type="triangle"/>
          </a:ln>
        </p:spPr>
      </p:cxnSp>
      <p:pic>
        <p:nvPicPr>
          <p:cNvPr descr="Boost Java Application Performance with JMH: A Comprehensive Guide to Java  Microbenchmark Harness Tests | Medium" id="417" name="Google Shape;417;p39"/>
          <p:cNvPicPr preferRelativeResize="0"/>
          <p:nvPr/>
        </p:nvPicPr>
        <p:blipFill rotWithShape="1">
          <a:blip r:embed="rId3">
            <a:alphaModFix/>
          </a:blip>
          <a:srcRect b="0" l="0" r="0" t="0"/>
          <a:stretch/>
        </p:blipFill>
        <p:spPr>
          <a:xfrm>
            <a:off x="777240" y="3012991"/>
            <a:ext cx="1997492" cy="115283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0"/>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6 · PERFORMANCE TESTING</a:t>
            </a:r>
            <a:endParaRPr/>
          </a:p>
        </p:txBody>
      </p:sp>
      <p:sp>
        <p:nvSpPr>
          <p:cNvPr id="423" name="Google Shape;423;p40"/>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JMH microbenchmarks — measurement criteria</a:t>
            </a:r>
            <a:endParaRPr/>
          </a:p>
        </p:txBody>
      </p:sp>
      <p:sp>
        <p:nvSpPr>
          <p:cNvPr id="424" name="Google Shape;424;p40"/>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p40"/>
          <p:cNvSpPr txBox="1"/>
          <p:nvPr/>
        </p:nvSpPr>
        <p:spPr>
          <a:xfrm>
            <a:off x="777240" y="1783080"/>
            <a:ext cx="10607100" cy="26754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Configuration: </a:t>
            </a:r>
            <a:r>
              <a:rPr lang="en-US" sz="1600">
                <a:solidFill>
                  <a:srgbClr val="16181D"/>
                </a:solidFill>
                <a:latin typeface="Calibri"/>
                <a:ea typeface="Calibri"/>
                <a:cs typeface="Calibri"/>
                <a:sym typeface="Calibri"/>
              </a:rPr>
              <a:t>Mode.AverageTime, NANOSECONDS unit (ns/op), warmup 15 iterations of 1 s, measurement 40 iterations of 1 s, fork 2.</a:t>
            </a:r>
            <a:endParaRPr/>
          </a:p>
          <a:p>
            <a:pPr indent="0" lvl="0" marL="0" marR="0" rtl="0" algn="l">
              <a:lnSpc>
                <a:spcPct val="106000"/>
              </a:lnSpc>
              <a:spcBef>
                <a:spcPts val="800"/>
              </a:spcBef>
              <a:spcAft>
                <a:spcPts val="0"/>
              </a:spcAft>
              <a:buNone/>
            </a:pPr>
            <a:r>
              <a:rPr b="1" lang="en-US" sz="1500">
                <a:solidFill>
                  <a:srgbClr val="5B6270"/>
                </a:solidFill>
                <a:latin typeface="Calibri"/>
                <a:ea typeface="Calibri"/>
                <a:cs typeface="Calibri"/>
                <a:sym typeface="Calibri"/>
              </a:rPr>
              <a:t>–  </a:t>
            </a:r>
            <a:r>
              <a:rPr lang="en-US" sz="1500">
                <a:solidFill>
                  <a:srgbClr val="5B6270"/>
                </a:solidFill>
                <a:latin typeface="Calibri"/>
                <a:ea typeface="Calibri"/>
                <a:cs typeface="Calibri"/>
                <a:sym typeface="Calibri"/>
              </a:rPr>
              <a:t>The 15 warmup iterations were selected after testing several combinations: the optimal value for stabilizing AverageTime, reducing variability from JIT compilation, profiling and caching.</a:t>
            </a:r>
            <a:endParaRPr/>
          </a:p>
          <a:p>
            <a:pPr indent="0" lvl="0" marL="0" marR="0" rtl="0" algn="l">
              <a:lnSpc>
                <a:spcPct val="106000"/>
              </a:lnSpc>
              <a:spcBef>
                <a:spcPts val="5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Components measured: </a:t>
            </a:r>
            <a:r>
              <a:rPr lang="en-US" sz="1600">
                <a:solidFill>
                  <a:srgbClr val="16181D"/>
                </a:solidFill>
                <a:latin typeface="Calibri"/>
                <a:ea typeface="Calibri"/>
                <a:cs typeface="Calibri"/>
                <a:sym typeface="Calibri"/>
              </a:rPr>
              <a:t>CatalogoService, RecensioniService, AutenticationService, ProfileService, ModerationService, FieldValidator, PasswordUtility.</a:t>
            </a:r>
            <a:endParaRPr/>
          </a:p>
          <a:p>
            <a:pPr indent="0" lvl="0" marL="0" marR="0" rtl="0" algn="l">
              <a:lnSpc>
                <a:spcPct val="106000"/>
              </a:lnSpc>
              <a:spcBef>
                <a:spcPts val="8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Constant operating conditions: </a:t>
            </a:r>
            <a:r>
              <a:rPr lang="en-US" sz="1600">
                <a:solidFill>
                  <a:srgbClr val="16181D"/>
                </a:solidFill>
                <a:latin typeface="Calibri"/>
                <a:ea typeface="Calibri"/>
                <a:cs typeface="Calibri"/>
                <a:sym typeface="Calibri"/>
              </a:rPr>
              <a:t>Lenovo laptop with AMD Ryzen 5 5500U, 8 GB RAM, Windows 11 (24H2), JDK 17, MySQL 9.2.0.</a:t>
            </a:r>
            <a:endParaRPr/>
          </a:p>
          <a:p>
            <a:pPr indent="0" lvl="0" marL="0" marR="0" rtl="0" algn="l">
              <a:lnSpc>
                <a:spcPct val="106000"/>
              </a:lnSpc>
              <a:spcBef>
                <a:spcPts val="80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Traceability: </a:t>
            </a:r>
            <a:r>
              <a:rPr lang="en-US" sz="1600">
                <a:solidFill>
                  <a:srgbClr val="16181D"/>
                </a:solidFill>
                <a:latin typeface="Calibri"/>
                <a:ea typeface="Calibri"/>
                <a:cs typeface="Calibri"/>
                <a:sym typeface="Calibri"/>
              </a:rPr>
              <a:t>all results exported to txt and versioned in the repository, split into before and after directories.</a:t>
            </a:r>
            <a:endParaRPr/>
          </a:p>
        </p:txBody>
      </p:sp>
      <p:sp>
        <p:nvSpPr>
          <p:cNvPr id="426" name="Google Shape;426;p40"/>
          <p:cNvSpPr/>
          <p:nvPr/>
        </p:nvSpPr>
        <p:spPr>
          <a:xfrm>
            <a:off x="777240" y="4846320"/>
            <a:ext cx="3401700" cy="10974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40"/>
          <p:cNvSpPr txBox="1"/>
          <p:nvPr/>
        </p:nvSpPr>
        <p:spPr>
          <a:xfrm>
            <a:off x="960120" y="5010911"/>
            <a:ext cx="30357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16181D"/>
                </a:solidFill>
                <a:latin typeface="Calibri"/>
                <a:ea typeface="Calibri"/>
                <a:cs typeface="Calibri"/>
                <a:sym typeface="Calibri"/>
              </a:rPr>
              <a:t>15 + 40</a:t>
            </a:r>
            <a:endParaRPr/>
          </a:p>
        </p:txBody>
      </p:sp>
      <p:sp>
        <p:nvSpPr>
          <p:cNvPr id="428" name="Google Shape;428;p40"/>
          <p:cNvSpPr txBox="1"/>
          <p:nvPr/>
        </p:nvSpPr>
        <p:spPr>
          <a:xfrm>
            <a:off x="914400" y="5559552"/>
            <a:ext cx="31272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warmup + measurement iterations</a:t>
            </a:r>
            <a:endParaRPr/>
          </a:p>
        </p:txBody>
      </p:sp>
      <p:sp>
        <p:nvSpPr>
          <p:cNvPr id="429" name="Google Shape;429;p40"/>
          <p:cNvSpPr/>
          <p:nvPr/>
        </p:nvSpPr>
        <p:spPr>
          <a:xfrm>
            <a:off x="4379976" y="4846320"/>
            <a:ext cx="3401700" cy="10974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30" name="Google Shape;430;p40"/>
          <p:cNvSpPr txBox="1"/>
          <p:nvPr/>
        </p:nvSpPr>
        <p:spPr>
          <a:xfrm>
            <a:off x="4562856" y="5010911"/>
            <a:ext cx="30357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16181D"/>
                </a:solidFill>
                <a:latin typeface="Calibri"/>
                <a:ea typeface="Calibri"/>
                <a:cs typeface="Calibri"/>
                <a:sym typeface="Calibri"/>
              </a:rPr>
              <a:t>fork 2</a:t>
            </a:r>
            <a:endParaRPr/>
          </a:p>
        </p:txBody>
      </p:sp>
      <p:sp>
        <p:nvSpPr>
          <p:cNvPr id="431" name="Google Shape;431;p40"/>
          <p:cNvSpPr txBox="1"/>
          <p:nvPr/>
        </p:nvSpPr>
        <p:spPr>
          <a:xfrm>
            <a:off x="4517136" y="5559552"/>
            <a:ext cx="31272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independent JVMs per benchmark</a:t>
            </a:r>
            <a:endParaRPr/>
          </a:p>
        </p:txBody>
      </p:sp>
      <p:sp>
        <p:nvSpPr>
          <p:cNvPr id="432" name="Google Shape;432;p40"/>
          <p:cNvSpPr/>
          <p:nvPr/>
        </p:nvSpPr>
        <p:spPr>
          <a:xfrm>
            <a:off x="7982712" y="4846320"/>
            <a:ext cx="3401700" cy="10974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40"/>
          <p:cNvSpPr txBox="1"/>
          <p:nvPr/>
        </p:nvSpPr>
        <p:spPr>
          <a:xfrm>
            <a:off x="8165592" y="5010911"/>
            <a:ext cx="30357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B8860B"/>
                </a:solidFill>
                <a:latin typeface="Calibri"/>
                <a:ea typeface="Calibri"/>
                <a:cs typeface="Calibri"/>
                <a:sym typeface="Calibri"/>
              </a:rPr>
              <a:t>7</a:t>
            </a:r>
            <a:endParaRPr/>
          </a:p>
        </p:txBody>
      </p:sp>
      <p:sp>
        <p:nvSpPr>
          <p:cNvPr id="434" name="Google Shape;434;p40"/>
          <p:cNvSpPr txBox="1"/>
          <p:nvPr/>
        </p:nvSpPr>
        <p:spPr>
          <a:xfrm>
            <a:off x="8119872" y="5559552"/>
            <a:ext cx="31272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benchmark suites versioned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1"/>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6 · PERFORMANCE TESTING</a:t>
            </a:r>
            <a:endParaRPr/>
          </a:p>
        </p:txBody>
      </p:sp>
      <p:sp>
        <p:nvSpPr>
          <p:cNvPr id="440" name="Google Shape;440;p41"/>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Static analysis with Creedengo</a:t>
            </a:r>
            <a:endParaRPr/>
          </a:p>
        </p:txBody>
      </p:sp>
      <p:sp>
        <p:nvSpPr>
          <p:cNvPr id="441" name="Google Shape;441;p41"/>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descr="image7.png" id="442" name="Google Shape;442;p41"/>
          <p:cNvPicPr preferRelativeResize="0"/>
          <p:nvPr/>
        </p:nvPicPr>
        <p:blipFill rotWithShape="1">
          <a:blip r:embed="rId3">
            <a:alphaModFix/>
          </a:blip>
          <a:srcRect b="0" l="0" r="0" t="0"/>
          <a:stretch/>
        </p:blipFill>
        <p:spPr>
          <a:xfrm>
            <a:off x="893960" y="1828800"/>
            <a:ext cx="3698479" cy="3291840"/>
          </a:xfrm>
          <a:prstGeom prst="rect">
            <a:avLst/>
          </a:prstGeom>
          <a:noFill/>
          <a:ln>
            <a:noFill/>
          </a:ln>
        </p:spPr>
      </p:pic>
      <p:sp>
        <p:nvSpPr>
          <p:cNvPr id="443" name="Google Shape;443;p41"/>
          <p:cNvSpPr txBox="1"/>
          <p:nvPr/>
        </p:nvSpPr>
        <p:spPr>
          <a:xfrm>
            <a:off x="5029200" y="1656960"/>
            <a:ext cx="6355200" cy="45735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400">
                <a:solidFill>
                  <a:srgbClr val="B8860B"/>
                </a:solidFill>
                <a:latin typeface="Calibri"/>
                <a:ea typeface="Calibri"/>
                <a:cs typeface="Calibri"/>
                <a:sym typeface="Calibri"/>
              </a:rPr>
              <a:t>▸  </a:t>
            </a:r>
            <a:r>
              <a:rPr b="1" lang="en-US" sz="1400">
                <a:solidFill>
                  <a:srgbClr val="16181D"/>
                </a:solidFill>
                <a:latin typeface="Calibri"/>
                <a:ea typeface="Calibri"/>
                <a:cs typeface="Calibri"/>
                <a:sym typeface="Calibri"/>
              </a:rPr>
              <a:t>166 violations across 6 categories: </a:t>
            </a:r>
            <a:r>
              <a:rPr lang="en-US" sz="1400">
                <a:solidFill>
                  <a:srgbClr val="16181D"/>
                </a:solidFill>
                <a:latin typeface="Calibri"/>
                <a:ea typeface="Calibri"/>
                <a:cs typeface="Calibri"/>
                <a:sym typeface="Calibri"/>
              </a:rPr>
              <a:t>Creedengo's goal is not style cleanup, but detecting patterns that introduce resource waste.</a:t>
            </a:r>
            <a:br>
              <a:rPr lang="en-US" sz="1400">
                <a:solidFill>
                  <a:srgbClr val="16181D"/>
                </a:solidFill>
                <a:latin typeface="Calibri"/>
                <a:ea typeface="Calibri"/>
                <a:cs typeface="Calibri"/>
                <a:sym typeface="Calibri"/>
              </a:rPr>
            </a:br>
            <a:endParaRPr sz="14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400">
                <a:solidFill>
                  <a:srgbClr val="B8860B"/>
                </a:solidFill>
                <a:latin typeface="Calibri"/>
                <a:ea typeface="Calibri"/>
                <a:cs typeface="Calibri"/>
                <a:sym typeface="Calibri"/>
              </a:rPr>
              <a:t>▸  </a:t>
            </a:r>
            <a:r>
              <a:rPr b="1" lang="en-US" sz="1400">
                <a:solidFill>
                  <a:srgbClr val="16181D"/>
                </a:solidFill>
                <a:latin typeface="Calibri"/>
                <a:ea typeface="Calibri"/>
                <a:cs typeface="Calibri"/>
                <a:sym typeface="Calibri"/>
              </a:rPr>
              <a:t>SELECT * FROM (18) — high priority: </a:t>
            </a:r>
            <a:r>
              <a:rPr lang="en-US" sz="1400">
                <a:solidFill>
                  <a:srgbClr val="16181D"/>
                </a:solidFill>
                <a:latin typeface="Calibri"/>
                <a:ea typeface="Calibri"/>
                <a:cs typeface="Calibri"/>
                <a:sym typeface="Calibri"/>
              </a:rPr>
              <a:t>the most critical violation; retrieves unnecessary columns, inflating disk I/O, network transfer and memory consumption.</a:t>
            </a:r>
            <a:endParaRPr/>
          </a:p>
          <a:p>
            <a:pPr indent="0" lvl="0" marL="0" marR="0" rtl="0" algn="l">
              <a:lnSpc>
                <a:spcPct val="106000"/>
              </a:lnSpc>
              <a:spcBef>
                <a:spcPts val="600"/>
              </a:spcBef>
              <a:spcAft>
                <a:spcPts val="0"/>
              </a:spcAft>
              <a:buNone/>
            </a:pPr>
            <a:r>
              <a:rPr b="1" lang="en-US" sz="1300">
                <a:solidFill>
                  <a:srgbClr val="5B6270"/>
                </a:solidFill>
                <a:latin typeface="Calibri"/>
                <a:ea typeface="Calibri"/>
                <a:cs typeface="Calibri"/>
                <a:sym typeface="Calibri"/>
              </a:rPr>
              <a:t>–  </a:t>
            </a:r>
            <a:r>
              <a:rPr b="1" lang="en-US" sz="1300">
                <a:solidFill>
                  <a:srgbClr val="16181D"/>
                </a:solidFill>
                <a:latin typeface="Calibri"/>
                <a:ea typeface="Calibri"/>
                <a:cs typeface="Calibri"/>
                <a:sym typeface="Calibri"/>
              </a:rPr>
              <a:t>Fix: </a:t>
            </a:r>
            <a:r>
              <a:rPr lang="en-US" sz="1300">
                <a:solidFill>
                  <a:srgbClr val="5B6270"/>
                </a:solidFill>
                <a:latin typeface="Calibri"/>
                <a:ea typeface="Calibri"/>
                <a:cs typeface="Calibri"/>
                <a:sym typeface="Calibri"/>
              </a:rPr>
              <a:t>queries rewritten listing only the required fields explicitly.</a:t>
            </a:r>
            <a:br>
              <a:rPr lang="en-US" sz="1200">
                <a:solidFill>
                  <a:srgbClr val="5B6270"/>
                </a:solidFill>
                <a:latin typeface="Calibri"/>
                <a:ea typeface="Calibri"/>
                <a:cs typeface="Calibri"/>
                <a:sym typeface="Calibri"/>
              </a:rPr>
            </a:br>
            <a:endParaRPr sz="1200">
              <a:solidFill>
                <a:srgbClr val="5B6270"/>
              </a:solidFill>
              <a:latin typeface="Calibri"/>
              <a:ea typeface="Calibri"/>
              <a:cs typeface="Calibri"/>
              <a:sym typeface="Calibri"/>
            </a:endParaRPr>
          </a:p>
          <a:p>
            <a:pPr indent="0" lvl="0" marL="0" marR="0" rtl="0" algn="l">
              <a:lnSpc>
                <a:spcPct val="106000"/>
              </a:lnSpc>
              <a:spcBef>
                <a:spcPts val="300"/>
              </a:spcBef>
              <a:spcAft>
                <a:spcPts val="0"/>
              </a:spcAft>
              <a:buNone/>
            </a:pPr>
            <a:r>
              <a:rPr b="1" lang="en-US" sz="1400">
                <a:solidFill>
                  <a:srgbClr val="B8860B"/>
                </a:solidFill>
                <a:latin typeface="Calibri"/>
                <a:ea typeface="Calibri"/>
                <a:cs typeface="Calibri"/>
                <a:sym typeface="Calibri"/>
              </a:rPr>
              <a:t>▸  </a:t>
            </a:r>
            <a:r>
              <a:rPr b="1" lang="en-US" sz="1400">
                <a:solidFill>
                  <a:srgbClr val="16181D"/>
                </a:solidFill>
                <a:latin typeface="Calibri"/>
                <a:ea typeface="Calibri"/>
                <a:cs typeface="Calibri"/>
                <a:sym typeface="Calibri"/>
              </a:rPr>
              <a:t>Static collections (1) — high priority: </a:t>
            </a:r>
            <a:r>
              <a:rPr lang="en-US" sz="1400">
                <a:solidFill>
                  <a:srgbClr val="16181D"/>
                </a:solidFill>
                <a:latin typeface="Calibri"/>
                <a:ea typeface="Calibri"/>
                <a:cs typeface="Calibri"/>
                <a:sym typeface="Calibri"/>
              </a:rPr>
              <a:t>persist in memory throughout the entire application lifecycle.</a:t>
            </a:r>
            <a:endParaRPr/>
          </a:p>
          <a:p>
            <a:pPr indent="0" lvl="0" marL="0" marR="0" rtl="0" algn="l">
              <a:lnSpc>
                <a:spcPct val="106000"/>
              </a:lnSpc>
              <a:spcBef>
                <a:spcPts val="600"/>
              </a:spcBef>
              <a:spcAft>
                <a:spcPts val="0"/>
              </a:spcAft>
              <a:buNone/>
            </a:pPr>
            <a:r>
              <a:rPr b="1" lang="en-US" sz="1300">
                <a:solidFill>
                  <a:srgbClr val="5B6270"/>
                </a:solidFill>
                <a:latin typeface="Calibri"/>
                <a:ea typeface="Calibri"/>
                <a:cs typeface="Calibri"/>
                <a:sym typeface="Calibri"/>
              </a:rPr>
              <a:t>–  </a:t>
            </a:r>
            <a:r>
              <a:rPr b="1" lang="en-US" sz="1300">
                <a:solidFill>
                  <a:srgbClr val="16181D"/>
                </a:solidFill>
                <a:latin typeface="Calibri"/>
                <a:ea typeface="Calibri"/>
                <a:cs typeface="Calibri"/>
                <a:sym typeface="Calibri"/>
              </a:rPr>
              <a:t>Fix: </a:t>
            </a:r>
            <a:r>
              <a:rPr lang="en-US" sz="1300">
                <a:solidFill>
                  <a:srgbClr val="5B6270"/>
                </a:solidFill>
                <a:latin typeface="Calibri"/>
                <a:ea typeface="Calibri"/>
                <a:cs typeface="Calibri"/>
                <a:sym typeface="Calibri"/>
              </a:rPr>
              <a:t>converted into an instance/local variable, memory released by the GC at the end of the request.</a:t>
            </a:r>
            <a:br>
              <a:rPr lang="en-US" sz="1200">
                <a:solidFill>
                  <a:srgbClr val="5B6270"/>
                </a:solidFill>
                <a:latin typeface="Calibri"/>
                <a:ea typeface="Calibri"/>
                <a:cs typeface="Calibri"/>
                <a:sym typeface="Calibri"/>
              </a:rPr>
            </a:br>
            <a:endParaRPr sz="1200">
              <a:solidFill>
                <a:srgbClr val="5B6270"/>
              </a:solidFill>
              <a:latin typeface="Calibri"/>
              <a:ea typeface="Calibri"/>
              <a:cs typeface="Calibri"/>
              <a:sym typeface="Calibri"/>
            </a:endParaRPr>
          </a:p>
          <a:p>
            <a:pPr indent="0" lvl="0" marL="0" marR="0" rtl="0" algn="l">
              <a:lnSpc>
                <a:spcPct val="106000"/>
              </a:lnSpc>
              <a:spcBef>
                <a:spcPts val="300"/>
              </a:spcBef>
              <a:spcAft>
                <a:spcPts val="0"/>
              </a:spcAft>
              <a:buNone/>
            </a:pPr>
            <a:r>
              <a:rPr b="1" lang="en-US" sz="1400">
                <a:solidFill>
                  <a:srgbClr val="B8860B"/>
                </a:solidFill>
                <a:latin typeface="Calibri"/>
                <a:ea typeface="Calibri"/>
                <a:cs typeface="Calibri"/>
                <a:sym typeface="Calibri"/>
              </a:rPr>
              <a:t>▸  </a:t>
            </a:r>
            <a:r>
              <a:rPr b="1" lang="en-US" sz="1400">
                <a:solidFill>
                  <a:srgbClr val="16181D"/>
                </a:solidFill>
                <a:latin typeface="Calibri"/>
                <a:ea typeface="Calibri"/>
                <a:cs typeface="Calibri"/>
                <a:sym typeface="Calibri"/>
              </a:rPr>
              <a:t>Loop micro-optimizations (7) — high priority: </a:t>
            </a:r>
            <a:r>
              <a:rPr lang="en-US" sz="1400">
                <a:solidFill>
                  <a:srgbClr val="16181D"/>
                </a:solidFill>
                <a:latin typeface="Calibri"/>
                <a:ea typeface="Calibri"/>
                <a:cs typeface="Calibri"/>
                <a:sym typeface="Calibri"/>
              </a:rPr>
              <a:t>++i instead of i++, collection size evaluated in the loop condition, function calls in the for declaration.</a:t>
            </a:r>
            <a:endParaRPr/>
          </a:p>
          <a:p>
            <a:pPr indent="0" lvl="0" marL="0" marR="0" rtl="0" algn="l">
              <a:lnSpc>
                <a:spcPct val="106000"/>
              </a:lnSpc>
              <a:spcBef>
                <a:spcPts val="600"/>
              </a:spcBef>
              <a:spcAft>
                <a:spcPts val="0"/>
              </a:spcAft>
              <a:buNone/>
            </a:pPr>
            <a:r>
              <a:rPr b="1" lang="en-US" sz="1300">
                <a:solidFill>
                  <a:srgbClr val="5B6270"/>
                </a:solidFill>
                <a:latin typeface="Calibri"/>
                <a:ea typeface="Calibri"/>
                <a:cs typeface="Calibri"/>
                <a:sym typeface="Calibri"/>
              </a:rPr>
              <a:t>–  </a:t>
            </a:r>
            <a:r>
              <a:rPr b="1" lang="en-US" sz="1300">
                <a:solidFill>
                  <a:srgbClr val="16181D"/>
                </a:solidFill>
                <a:latin typeface="Calibri"/>
                <a:ea typeface="Calibri"/>
                <a:cs typeface="Calibri"/>
                <a:sym typeface="Calibri"/>
              </a:rPr>
              <a:t>Fix: </a:t>
            </a:r>
            <a:r>
              <a:rPr lang="en-US" sz="1300">
                <a:solidFill>
                  <a:srgbClr val="5B6270"/>
                </a:solidFill>
                <a:latin typeface="Calibri"/>
                <a:ea typeface="Calibri"/>
                <a:cs typeface="Calibri"/>
                <a:sym typeface="Calibri"/>
              </a:rPr>
              <a:t>invariant calls and .size() extracted outside the loop, computed once and reused.</a:t>
            </a:r>
            <a:br>
              <a:rPr lang="en-US" sz="1200">
                <a:solidFill>
                  <a:srgbClr val="5B6270"/>
                </a:solidFill>
                <a:latin typeface="Calibri"/>
                <a:ea typeface="Calibri"/>
                <a:cs typeface="Calibri"/>
                <a:sym typeface="Calibri"/>
              </a:rPr>
            </a:br>
            <a:endParaRPr sz="1200">
              <a:solidFill>
                <a:srgbClr val="5B6270"/>
              </a:solidFill>
              <a:latin typeface="Calibri"/>
              <a:ea typeface="Calibri"/>
              <a:cs typeface="Calibri"/>
              <a:sym typeface="Calibri"/>
            </a:endParaRPr>
          </a:p>
          <a:p>
            <a:pPr indent="0" lvl="0" marL="0" marR="0" rtl="0" algn="l">
              <a:lnSpc>
                <a:spcPct val="106000"/>
              </a:lnSpc>
              <a:spcBef>
                <a:spcPts val="300"/>
              </a:spcBef>
              <a:spcAft>
                <a:spcPts val="0"/>
              </a:spcAft>
              <a:buNone/>
            </a:pPr>
            <a:r>
              <a:rPr b="1" lang="en-US" sz="1400">
                <a:solidFill>
                  <a:srgbClr val="B8860B"/>
                </a:solidFill>
                <a:latin typeface="Calibri"/>
                <a:ea typeface="Calibri"/>
                <a:cs typeface="Calibri"/>
                <a:sym typeface="Calibri"/>
              </a:rPr>
              <a:t>▸  </a:t>
            </a:r>
            <a:r>
              <a:rPr b="1" lang="en-US" sz="1400">
                <a:solidFill>
                  <a:srgbClr val="16181D"/>
                </a:solidFill>
                <a:latin typeface="Calibri"/>
                <a:ea typeface="Calibri"/>
                <a:cs typeface="Calibri"/>
                <a:sym typeface="Calibri"/>
              </a:rPr>
              <a:t>Variables that can be final (140) — low priority: </a:t>
            </a:r>
            <a:r>
              <a:rPr lang="en-US" sz="1400">
                <a:solidFill>
                  <a:srgbClr val="16181D"/>
                </a:solidFill>
                <a:latin typeface="Calibri"/>
                <a:ea typeface="Calibri"/>
                <a:cs typeface="Calibri"/>
                <a:sym typeface="Calibri"/>
              </a:rPr>
              <a:t>84% of the cases; immediate impact limited by JIT optimizations, but it affects the overall energy footprint. Resolved with the IDE's automated refactoring.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2"/>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6 · PERFORMANCE TESTING</a:t>
            </a:r>
            <a:endParaRPr/>
          </a:p>
        </p:txBody>
      </p:sp>
      <p:sp>
        <p:nvSpPr>
          <p:cNvPr id="449" name="Google Shape;449;p42"/>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Validation: before / after comparison</a:t>
            </a:r>
            <a:endParaRPr/>
          </a:p>
        </p:txBody>
      </p:sp>
      <p:sp>
        <p:nvSpPr>
          <p:cNvPr id="450" name="Google Shape;450;p42"/>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42"/>
          <p:cNvSpPr txBox="1"/>
          <p:nvPr/>
        </p:nvSpPr>
        <p:spPr>
          <a:xfrm>
            <a:off x="777240" y="1554480"/>
            <a:ext cx="10607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600">
                <a:solidFill>
                  <a:srgbClr val="7C7C7C"/>
                </a:solidFill>
                <a:latin typeface="Calibri"/>
                <a:ea typeface="Calibri"/>
                <a:cs typeface="Calibri"/>
                <a:sym typeface="Calibri"/>
              </a:rPr>
              <a:t>Static analysis re-run with the same Quality Profile: total resolution of all violations tagged with Creedengo.</a:t>
            </a:r>
            <a:endParaRPr b="0" i="1" sz="1600">
              <a:solidFill>
                <a:srgbClr val="7C7C7C"/>
              </a:solidFill>
              <a:latin typeface="Calibri"/>
              <a:ea typeface="Calibri"/>
              <a:cs typeface="Calibri"/>
              <a:sym typeface="Calibri"/>
            </a:endParaRPr>
          </a:p>
        </p:txBody>
      </p:sp>
      <p:pic>
        <p:nvPicPr>
          <p:cNvPr descr="image11.png" id="452" name="Google Shape;452;p42"/>
          <p:cNvPicPr preferRelativeResize="0"/>
          <p:nvPr/>
        </p:nvPicPr>
        <p:blipFill rotWithShape="1">
          <a:blip r:embed="rId3">
            <a:alphaModFix/>
          </a:blip>
          <a:srcRect b="0" l="0" r="0" t="0"/>
          <a:stretch/>
        </p:blipFill>
        <p:spPr>
          <a:xfrm>
            <a:off x="777240" y="2926082"/>
            <a:ext cx="3291840" cy="899770"/>
          </a:xfrm>
          <a:prstGeom prst="rect">
            <a:avLst/>
          </a:prstGeom>
          <a:noFill/>
          <a:ln>
            <a:noFill/>
          </a:ln>
        </p:spPr>
      </p:pic>
      <p:graphicFrame>
        <p:nvGraphicFramePr>
          <p:cNvPr id="453" name="Google Shape;453;p42"/>
          <p:cNvGraphicFramePr/>
          <p:nvPr/>
        </p:nvGraphicFramePr>
        <p:xfrm>
          <a:off x="4480560" y="2873046"/>
          <a:ext cx="3000000" cy="3000000"/>
        </p:xfrm>
        <a:graphic>
          <a:graphicData uri="http://schemas.openxmlformats.org/drawingml/2006/table">
            <a:tbl>
              <a:tblPr bandRow="1" firstRow="1">
                <a:noFill/>
                <a:tableStyleId>{3E246B3B-8ED0-44C9-944B-42B370E33661}</a:tableStyleId>
              </a:tblPr>
              <a:tblGrid>
                <a:gridCol w="3063250"/>
                <a:gridCol w="1325875"/>
                <a:gridCol w="1325875"/>
                <a:gridCol w="1188725"/>
              </a:tblGrid>
              <a:tr h="377200">
                <a:tc>
                  <a:txBody>
                    <a:bodyPr/>
                    <a:lstStyle/>
                    <a:p>
                      <a:pPr indent="0" lvl="0" marL="0" marR="0" rtl="0" algn="l">
                        <a:lnSpc>
                          <a:spcPct val="95000"/>
                        </a:lnSpc>
                        <a:spcBef>
                          <a:spcPts val="0"/>
                        </a:spcBef>
                        <a:spcAft>
                          <a:spcPts val="0"/>
                        </a:spcAft>
                        <a:buNone/>
                      </a:pPr>
                      <a:r>
                        <a:rPr b="1" lang="en-US" sz="1600" u="none" cap="none" strike="noStrike">
                          <a:solidFill>
                            <a:srgbClr val="FFFFFF"/>
                          </a:solidFill>
                          <a:latin typeface="Calibri"/>
                          <a:ea typeface="Calibri"/>
                          <a:cs typeface="Calibri"/>
                          <a:sym typeface="Calibri"/>
                        </a:rPr>
                        <a:t>ProfileService benchmark</a:t>
                      </a:r>
                      <a:endParaRPr/>
                    </a:p>
                  </a:txBody>
                  <a:tcPr marT="45725" marB="45725" marR="91450" marL="128025" anchor="ctr">
                    <a:solidFill>
                      <a:srgbClr val="16181D"/>
                    </a:solidFill>
                  </a:tcPr>
                </a:tc>
                <a:tc>
                  <a:txBody>
                    <a:bodyPr/>
                    <a:lstStyle/>
                    <a:p>
                      <a:pPr indent="0" lvl="0" marL="0" marR="0" rtl="0" algn="l">
                        <a:lnSpc>
                          <a:spcPct val="95000"/>
                        </a:lnSpc>
                        <a:spcBef>
                          <a:spcPts val="0"/>
                        </a:spcBef>
                        <a:spcAft>
                          <a:spcPts val="0"/>
                        </a:spcAft>
                        <a:buNone/>
                      </a:pPr>
                      <a:r>
                        <a:rPr b="1" lang="en-US" sz="1600" u="none" cap="none" strike="noStrike">
                          <a:solidFill>
                            <a:srgbClr val="FFFFFF"/>
                          </a:solidFill>
                          <a:latin typeface="Calibri"/>
                          <a:ea typeface="Calibri"/>
                          <a:cs typeface="Calibri"/>
                          <a:sym typeface="Calibri"/>
                        </a:rPr>
                        <a:t>Before (ns/op)</a:t>
                      </a:r>
                      <a:endParaRPr sz="1600" u="none" cap="none" strike="noStrike"/>
                    </a:p>
                  </a:txBody>
                  <a:tcPr marT="45725" marB="45725" marR="91450" marL="128025" anchor="ctr">
                    <a:solidFill>
                      <a:srgbClr val="16181D"/>
                    </a:solidFill>
                  </a:tcPr>
                </a:tc>
                <a:tc>
                  <a:txBody>
                    <a:bodyPr/>
                    <a:lstStyle/>
                    <a:p>
                      <a:pPr indent="0" lvl="0" marL="0" marR="0" rtl="0" algn="l">
                        <a:lnSpc>
                          <a:spcPct val="95000"/>
                        </a:lnSpc>
                        <a:spcBef>
                          <a:spcPts val="0"/>
                        </a:spcBef>
                        <a:spcAft>
                          <a:spcPts val="0"/>
                        </a:spcAft>
                        <a:buNone/>
                      </a:pPr>
                      <a:r>
                        <a:rPr b="1" lang="en-US" sz="1600" u="none" cap="none" strike="noStrike">
                          <a:solidFill>
                            <a:srgbClr val="FFFFFF"/>
                          </a:solidFill>
                          <a:latin typeface="Calibri"/>
                          <a:ea typeface="Calibri"/>
                          <a:cs typeface="Calibri"/>
                          <a:sym typeface="Calibri"/>
                        </a:rPr>
                        <a:t>After (ns/op)</a:t>
                      </a:r>
                      <a:endParaRPr sz="1600" u="none" cap="none" strike="noStrike"/>
                    </a:p>
                  </a:txBody>
                  <a:tcPr marT="45725" marB="45725" marR="91450" marL="128025" anchor="ctr">
                    <a:solidFill>
                      <a:srgbClr val="16181D"/>
                    </a:solidFill>
                  </a:tcPr>
                </a:tc>
                <a:tc>
                  <a:txBody>
                    <a:bodyPr/>
                    <a:lstStyle/>
                    <a:p>
                      <a:pPr indent="0" lvl="0" marL="0" marR="0" rtl="0" algn="l">
                        <a:lnSpc>
                          <a:spcPct val="95000"/>
                        </a:lnSpc>
                        <a:spcBef>
                          <a:spcPts val="0"/>
                        </a:spcBef>
                        <a:spcAft>
                          <a:spcPts val="0"/>
                        </a:spcAft>
                        <a:buNone/>
                      </a:pPr>
                      <a:r>
                        <a:rPr b="1" lang="en-US" sz="1600" u="none" cap="none" strike="noStrike">
                          <a:solidFill>
                            <a:srgbClr val="FFFFFF"/>
                          </a:solidFill>
                          <a:latin typeface="Calibri"/>
                          <a:ea typeface="Calibri"/>
                          <a:cs typeface="Calibri"/>
                          <a:sym typeface="Calibri"/>
                        </a:rPr>
                        <a:t>Reduction</a:t>
                      </a:r>
                      <a:endParaRPr sz="1600" u="none" cap="none" strike="noStrike"/>
                    </a:p>
                  </a:txBody>
                  <a:tcPr marT="45725" marB="45725" marR="91450" marL="128025" anchor="ctr">
                    <a:solidFill>
                      <a:srgbClr val="16181D"/>
                    </a:solidFill>
                  </a:tcPr>
                </a:tc>
              </a:tr>
              <a:tr h="377200">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benchmarkAggiungiAllaWatchlist</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4,540.797</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3,607.234</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1" lang="en-US" sz="1600" u="none" cap="none" strike="noStrike">
                          <a:solidFill>
                            <a:srgbClr val="1B7F4B"/>
                          </a:solidFill>
                          <a:latin typeface="Calibri"/>
                          <a:ea typeface="Calibri"/>
                          <a:cs typeface="Calibri"/>
                          <a:sym typeface="Calibri"/>
                        </a:rPr>
                        <a:t>−20.56%</a:t>
                      </a:r>
                      <a:endParaRPr/>
                    </a:p>
                  </a:txBody>
                  <a:tcPr marT="45725" marB="45725" marR="91450" marL="128025" anchor="ctr">
                    <a:solidFill>
                      <a:srgbClr val="FFFFFF"/>
                    </a:solidFill>
                  </a:tcPr>
                </a:tc>
              </a:tr>
              <a:tr h="377200">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benchmarkPasswordUpdate</a:t>
                      </a:r>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9,982.091</a:t>
                      </a:r>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7,716.780</a:t>
                      </a:r>
                      <a:endParaRPr/>
                    </a:p>
                  </a:txBody>
                  <a:tcPr marT="45725" marB="45725" marR="91450" marL="128025" anchor="ctr">
                    <a:solidFill>
                      <a:srgbClr val="F3F4F6"/>
                    </a:solidFill>
                  </a:tcPr>
                </a:tc>
                <a:tc>
                  <a:txBody>
                    <a:bodyPr/>
                    <a:lstStyle/>
                    <a:p>
                      <a:pPr indent="0" lvl="0" marL="0" marR="0" rtl="0" algn="l">
                        <a:lnSpc>
                          <a:spcPct val="95000"/>
                        </a:lnSpc>
                        <a:spcBef>
                          <a:spcPts val="0"/>
                        </a:spcBef>
                        <a:spcAft>
                          <a:spcPts val="0"/>
                        </a:spcAft>
                        <a:buNone/>
                      </a:pPr>
                      <a:r>
                        <a:rPr b="1" lang="en-US" sz="1600" u="none" cap="none" strike="noStrike">
                          <a:solidFill>
                            <a:srgbClr val="1B7F4B"/>
                          </a:solidFill>
                          <a:latin typeface="Calibri"/>
                          <a:ea typeface="Calibri"/>
                          <a:cs typeface="Calibri"/>
                          <a:sym typeface="Calibri"/>
                        </a:rPr>
                        <a:t>−22.69%</a:t>
                      </a:r>
                      <a:endParaRPr/>
                    </a:p>
                  </a:txBody>
                  <a:tcPr marT="45725" marB="45725" marR="91450" marL="128025" anchor="ctr">
                    <a:solidFill>
                      <a:srgbClr val="F3F4F6"/>
                    </a:solidFill>
                  </a:tcPr>
                </a:tc>
              </a:tr>
              <a:tr h="377200">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benchmarkProfileUpdate</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14,696.992</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0" lang="en-US" sz="1600" u="none" cap="none" strike="noStrike">
                          <a:solidFill>
                            <a:srgbClr val="16181D"/>
                          </a:solidFill>
                          <a:latin typeface="Calibri"/>
                          <a:ea typeface="Calibri"/>
                          <a:cs typeface="Calibri"/>
                          <a:sym typeface="Calibri"/>
                        </a:rPr>
                        <a:t>11,558.612</a:t>
                      </a:r>
                      <a:endParaRPr/>
                    </a:p>
                  </a:txBody>
                  <a:tcPr marT="45725" marB="45725" marR="91450" marL="128025" anchor="ctr">
                    <a:solidFill>
                      <a:srgbClr val="FFFFFF"/>
                    </a:solidFill>
                  </a:tcPr>
                </a:tc>
                <a:tc>
                  <a:txBody>
                    <a:bodyPr/>
                    <a:lstStyle/>
                    <a:p>
                      <a:pPr indent="0" lvl="0" marL="0" marR="0" rtl="0" algn="l">
                        <a:lnSpc>
                          <a:spcPct val="95000"/>
                        </a:lnSpc>
                        <a:spcBef>
                          <a:spcPts val="0"/>
                        </a:spcBef>
                        <a:spcAft>
                          <a:spcPts val="0"/>
                        </a:spcAft>
                        <a:buNone/>
                      </a:pPr>
                      <a:r>
                        <a:rPr b="1" lang="en-US" sz="1600" u="none" cap="none" strike="noStrike">
                          <a:solidFill>
                            <a:srgbClr val="1B7F4B"/>
                          </a:solidFill>
                          <a:latin typeface="Calibri"/>
                          <a:ea typeface="Calibri"/>
                          <a:cs typeface="Calibri"/>
                          <a:sym typeface="Calibri"/>
                        </a:rPr>
                        <a:t>−21.35%</a:t>
                      </a:r>
                      <a:endParaRPr/>
                    </a:p>
                  </a:txBody>
                  <a:tcPr marT="45725" marB="45725" marR="91450" marL="128025" anchor="ctr">
                    <a:solidFill>
                      <a:srgbClr val="FFFFFF"/>
                    </a:solidFill>
                  </a:tcPr>
                </a:tc>
              </a:tr>
            </a:tbl>
          </a:graphicData>
        </a:graphic>
      </p:graphicFrame>
      <p:sp>
        <p:nvSpPr>
          <p:cNvPr id="454" name="Google Shape;454;p42"/>
          <p:cNvSpPr txBox="1"/>
          <p:nvPr/>
        </p:nvSpPr>
        <p:spPr>
          <a:xfrm>
            <a:off x="4480560" y="4628748"/>
            <a:ext cx="6903600" cy="43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a:solidFill>
                  <a:srgbClr val="5B6270"/>
                </a:solidFill>
                <a:latin typeface="Calibri"/>
                <a:ea typeface="Calibri"/>
                <a:cs typeface="Calibri"/>
                <a:sym typeface="Calibri"/>
              </a:rPr>
              <a:t>Excerpt: the repository contains the full suite of measurements for the other services </a:t>
            </a:r>
            <a:br>
              <a:rPr b="0" i="1" lang="en-US" sz="1400">
                <a:solidFill>
                  <a:schemeClr val="dk1"/>
                </a:solidFill>
                <a:latin typeface="Calibri"/>
                <a:ea typeface="Calibri"/>
                <a:cs typeface="Calibri"/>
                <a:sym typeface="Calibri"/>
              </a:rPr>
            </a:br>
            <a:r>
              <a:rPr b="0" i="1" lang="en-US" sz="1400">
                <a:solidFill>
                  <a:srgbClr val="5B6270"/>
                </a:solidFill>
                <a:latin typeface="Calibri"/>
                <a:ea typeface="Calibri"/>
                <a:cs typeface="Calibri"/>
                <a:sym typeface="Calibri"/>
              </a:rPr>
              <a:t>(JMH/before and JMH/after directories).</a:t>
            </a:r>
            <a:endParaRPr sz="14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60" name="Google Shape;460;p43"/>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43"/>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7</a:t>
            </a:r>
            <a:endParaRPr/>
          </a:p>
        </p:txBody>
      </p:sp>
      <p:sp>
        <p:nvSpPr>
          <p:cNvPr id="462" name="Google Shape;462;p43"/>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Security</a:t>
            </a:r>
            <a:endParaRPr/>
          </a:p>
        </p:txBody>
      </p:sp>
      <p:sp>
        <p:nvSpPr>
          <p:cNvPr id="463" name="Google Shape;463;p43"/>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4"/>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7 · SECURITY</a:t>
            </a:r>
            <a:endParaRPr/>
          </a:p>
        </p:txBody>
      </p:sp>
      <p:sp>
        <p:nvSpPr>
          <p:cNvPr id="469" name="Google Shape;469;p44"/>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Native GitHub security</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shift left model</a:t>
            </a:r>
            <a:endParaRPr/>
          </a:p>
        </p:txBody>
      </p:sp>
      <p:sp>
        <p:nvSpPr>
          <p:cNvPr id="470" name="Google Shape;470;p44"/>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71" name="Google Shape;471;p44"/>
          <p:cNvSpPr txBox="1"/>
          <p:nvPr/>
        </p:nvSpPr>
        <p:spPr>
          <a:xfrm>
            <a:off x="777240" y="1572768"/>
            <a:ext cx="10607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600">
                <a:solidFill>
                  <a:srgbClr val="5B6270"/>
                </a:solidFill>
                <a:latin typeface="Calibri"/>
                <a:ea typeface="Calibri"/>
                <a:cs typeface="Calibri"/>
                <a:sym typeface="Calibri"/>
              </a:rPr>
              <a:t>Goal: identify and mitigate security risks at the earliest possible stage, stopping vulnerabilities before the code is ever released.</a:t>
            </a:r>
            <a:endParaRPr b="0" i="1" sz="1600">
              <a:solidFill>
                <a:srgbClr val="5B6270"/>
              </a:solidFill>
              <a:latin typeface="Calibri"/>
              <a:ea typeface="Calibri"/>
              <a:cs typeface="Calibri"/>
              <a:sym typeface="Calibri"/>
            </a:endParaRPr>
          </a:p>
        </p:txBody>
      </p:sp>
      <p:sp>
        <p:nvSpPr>
          <p:cNvPr id="472" name="Google Shape;472;p44"/>
          <p:cNvSpPr/>
          <p:nvPr/>
        </p:nvSpPr>
        <p:spPr>
          <a:xfrm>
            <a:off x="777240" y="2103120"/>
            <a:ext cx="3377100" cy="37032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p44"/>
          <p:cNvSpPr txBox="1"/>
          <p:nvPr/>
        </p:nvSpPr>
        <p:spPr>
          <a:xfrm>
            <a:off x="1005840" y="2377440"/>
            <a:ext cx="29199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16181D"/>
                </a:solidFill>
                <a:latin typeface="Calibri"/>
                <a:ea typeface="Calibri"/>
                <a:cs typeface="Calibri"/>
                <a:sym typeface="Calibri"/>
              </a:rPr>
              <a:t>Supply Chain Security</a:t>
            </a:r>
            <a:endParaRPr b="1" i="0" sz="1700">
              <a:solidFill>
                <a:srgbClr val="16181D"/>
              </a:solidFill>
              <a:latin typeface="Calibri"/>
              <a:ea typeface="Calibri"/>
              <a:cs typeface="Calibri"/>
              <a:sym typeface="Calibri"/>
            </a:endParaRPr>
          </a:p>
        </p:txBody>
      </p:sp>
      <p:sp>
        <p:nvSpPr>
          <p:cNvPr id="474" name="Google Shape;474;p44"/>
          <p:cNvSpPr txBox="1"/>
          <p:nvPr/>
        </p:nvSpPr>
        <p:spPr>
          <a:xfrm>
            <a:off x="1005840" y="2788920"/>
            <a:ext cx="2919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a:solidFill>
                  <a:srgbClr val="B8860B"/>
                </a:solidFill>
                <a:latin typeface="Calibri"/>
                <a:ea typeface="Calibri"/>
                <a:cs typeface="Calibri"/>
                <a:sym typeface="Calibri"/>
              </a:rPr>
              <a:t>Dependency Graph + Dependabot</a:t>
            </a:r>
            <a:endParaRPr b="1" i="0" sz="1300">
              <a:solidFill>
                <a:srgbClr val="B8860B"/>
              </a:solidFill>
              <a:latin typeface="Calibri"/>
              <a:ea typeface="Calibri"/>
              <a:cs typeface="Calibri"/>
              <a:sym typeface="Calibri"/>
            </a:endParaRPr>
          </a:p>
        </p:txBody>
      </p:sp>
      <p:sp>
        <p:nvSpPr>
          <p:cNvPr id="475" name="Google Shape;475;p44"/>
          <p:cNvSpPr txBox="1"/>
          <p:nvPr/>
        </p:nvSpPr>
        <p:spPr>
          <a:xfrm>
            <a:off x="1005840" y="3200400"/>
            <a:ext cx="2919900" cy="23160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a:solidFill>
                  <a:srgbClr val="16181D"/>
                </a:solidFill>
                <a:latin typeface="Calibri"/>
                <a:ea typeface="Calibri"/>
                <a:cs typeface="Calibri"/>
                <a:sym typeface="Calibri"/>
              </a:rPr>
              <a:t>Project dependencies are analyzed automatically and continuously cross-referenced against up-to-date vulnerability databases.</a:t>
            </a:r>
            <a:br>
              <a:rPr b="0" i="0" lang="en-US" sz="1400">
                <a:solidFill>
                  <a:srgbClr val="16181D"/>
                </a:solidFill>
                <a:latin typeface="Calibri"/>
                <a:ea typeface="Calibri"/>
                <a:cs typeface="Calibri"/>
                <a:sym typeface="Calibri"/>
              </a:rPr>
            </a:br>
            <a:br>
              <a:rPr b="0" i="0" lang="en-US" sz="1400">
                <a:solidFill>
                  <a:srgbClr val="16181D"/>
                </a:solidFill>
                <a:latin typeface="Calibri"/>
                <a:ea typeface="Calibri"/>
                <a:cs typeface="Calibri"/>
                <a:sym typeface="Calibri"/>
              </a:rPr>
            </a:br>
            <a:r>
              <a:rPr b="0" i="0" lang="en-US" sz="1400">
                <a:solidFill>
                  <a:srgbClr val="16181D"/>
                </a:solidFill>
                <a:latin typeface="Calibri"/>
                <a:ea typeface="Calibri"/>
                <a:cs typeface="Calibri"/>
                <a:sym typeface="Calibri"/>
              </a:rPr>
              <a:t>Dependabot generates corrective pull requests, also in grouped format: this reduces the likelihood of incorporating compromised libraries and accelerates response to external security events.</a:t>
            </a:r>
            <a:endParaRPr b="0" i="0" sz="1400">
              <a:solidFill>
                <a:srgbClr val="16181D"/>
              </a:solidFill>
              <a:latin typeface="Calibri"/>
              <a:ea typeface="Calibri"/>
              <a:cs typeface="Calibri"/>
              <a:sym typeface="Calibri"/>
            </a:endParaRPr>
          </a:p>
        </p:txBody>
      </p:sp>
      <p:sp>
        <p:nvSpPr>
          <p:cNvPr id="476" name="Google Shape;476;p44"/>
          <p:cNvSpPr/>
          <p:nvPr/>
        </p:nvSpPr>
        <p:spPr>
          <a:xfrm>
            <a:off x="4392167" y="2103120"/>
            <a:ext cx="3377100" cy="37032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44"/>
          <p:cNvSpPr txBox="1"/>
          <p:nvPr/>
        </p:nvSpPr>
        <p:spPr>
          <a:xfrm>
            <a:off x="4620767" y="2377440"/>
            <a:ext cx="29199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16181D"/>
                </a:solidFill>
                <a:latin typeface="Calibri"/>
                <a:ea typeface="Calibri"/>
                <a:cs typeface="Calibri"/>
                <a:sym typeface="Calibri"/>
              </a:rPr>
              <a:t>Secret Protection</a:t>
            </a:r>
            <a:endParaRPr b="1" i="0" sz="1700">
              <a:solidFill>
                <a:srgbClr val="16181D"/>
              </a:solidFill>
              <a:latin typeface="Calibri"/>
              <a:ea typeface="Calibri"/>
              <a:cs typeface="Calibri"/>
              <a:sym typeface="Calibri"/>
            </a:endParaRPr>
          </a:p>
        </p:txBody>
      </p:sp>
      <p:sp>
        <p:nvSpPr>
          <p:cNvPr id="478" name="Google Shape;478;p44"/>
          <p:cNvSpPr txBox="1"/>
          <p:nvPr/>
        </p:nvSpPr>
        <p:spPr>
          <a:xfrm>
            <a:off x="4620767" y="2788920"/>
            <a:ext cx="2919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a:solidFill>
                  <a:srgbClr val="B8860B"/>
                </a:solidFill>
                <a:latin typeface="Calibri"/>
                <a:ea typeface="Calibri"/>
                <a:cs typeface="Calibri"/>
                <a:sym typeface="Calibri"/>
              </a:rPr>
              <a:t>Secret Scanning + Push Protection</a:t>
            </a:r>
            <a:endParaRPr b="1" i="0" sz="1300">
              <a:solidFill>
                <a:srgbClr val="B8860B"/>
              </a:solidFill>
              <a:latin typeface="Calibri"/>
              <a:ea typeface="Calibri"/>
              <a:cs typeface="Calibri"/>
              <a:sym typeface="Calibri"/>
            </a:endParaRPr>
          </a:p>
        </p:txBody>
      </p:sp>
      <p:sp>
        <p:nvSpPr>
          <p:cNvPr id="479" name="Google Shape;479;p44"/>
          <p:cNvSpPr txBox="1"/>
          <p:nvPr/>
        </p:nvSpPr>
        <p:spPr>
          <a:xfrm>
            <a:off x="4620767" y="3200400"/>
            <a:ext cx="2919900" cy="20835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a:solidFill>
                  <a:srgbClr val="16181D"/>
                </a:solidFill>
                <a:latin typeface="Calibri"/>
                <a:ea typeface="Calibri"/>
                <a:cs typeface="Calibri"/>
                <a:sym typeface="Calibri"/>
              </a:rPr>
              <a:t>Proactive scanning for patterns matching sensitive credentials: tokens, API keys and private secrets.</a:t>
            </a:r>
            <a:br>
              <a:rPr b="0" i="0" lang="en-US" sz="1400">
                <a:solidFill>
                  <a:srgbClr val="16181D"/>
                </a:solidFill>
                <a:latin typeface="Calibri"/>
                <a:ea typeface="Calibri"/>
                <a:cs typeface="Calibri"/>
                <a:sym typeface="Calibri"/>
              </a:rPr>
            </a:br>
            <a:br>
              <a:rPr b="0" i="0" lang="en-US" sz="1400">
                <a:solidFill>
                  <a:srgbClr val="16181D"/>
                </a:solidFill>
                <a:latin typeface="Calibri"/>
                <a:ea typeface="Calibri"/>
                <a:cs typeface="Calibri"/>
                <a:sym typeface="Calibri"/>
              </a:rPr>
            </a:br>
            <a:r>
              <a:rPr b="0" i="0" lang="en-US" sz="1400">
                <a:solidFill>
                  <a:srgbClr val="16181D"/>
                </a:solidFill>
                <a:latin typeface="Calibri"/>
                <a:ea typeface="Calibri"/>
                <a:cs typeface="Calibri"/>
                <a:sym typeface="Calibri"/>
              </a:rPr>
              <a:t>Push protection acts as a preventive gatekeeper, blocking pushes when secrets are detected: credentials never enter the git history, avoiding revocation and rotation procedures.</a:t>
            </a:r>
            <a:endParaRPr b="0" i="0" sz="1400">
              <a:solidFill>
                <a:srgbClr val="16181D"/>
              </a:solidFill>
              <a:latin typeface="Calibri"/>
              <a:ea typeface="Calibri"/>
              <a:cs typeface="Calibri"/>
              <a:sym typeface="Calibri"/>
            </a:endParaRPr>
          </a:p>
        </p:txBody>
      </p:sp>
      <p:sp>
        <p:nvSpPr>
          <p:cNvPr id="480" name="Google Shape;480;p44"/>
          <p:cNvSpPr/>
          <p:nvPr/>
        </p:nvSpPr>
        <p:spPr>
          <a:xfrm>
            <a:off x="8007095" y="2103120"/>
            <a:ext cx="3377100" cy="37032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81" name="Google Shape;481;p44"/>
          <p:cNvSpPr txBox="1"/>
          <p:nvPr/>
        </p:nvSpPr>
        <p:spPr>
          <a:xfrm>
            <a:off x="8235695" y="2377440"/>
            <a:ext cx="2919900" cy="26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16181D"/>
                </a:solidFill>
                <a:latin typeface="Calibri"/>
                <a:ea typeface="Calibri"/>
                <a:cs typeface="Calibri"/>
                <a:sym typeface="Calibri"/>
              </a:rPr>
              <a:t>Vulnerability Reporting</a:t>
            </a:r>
            <a:endParaRPr b="1" i="0" sz="1700">
              <a:solidFill>
                <a:srgbClr val="16181D"/>
              </a:solidFill>
              <a:latin typeface="Calibri"/>
              <a:ea typeface="Calibri"/>
              <a:cs typeface="Calibri"/>
              <a:sym typeface="Calibri"/>
            </a:endParaRPr>
          </a:p>
        </p:txBody>
      </p:sp>
      <p:sp>
        <p:nvSpPr>
          <p:cNvPr id="482" name="Google Shape;482;p44"/>
          <p:cNvSpPr txBox="1"/>
          <p:nvPr/>
        </p:nvSpPr>
        <p:spPr>
          <a:xfrm>
            <a:off x="8235695" y="2788920"/>
            <a:ext cx="29199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00">
                <a:solidFill>
                  <a:srgbClr val="B8860B"/>
                </a:solidFill>
                <a:latin typeface="Calibri"/>
                <a:ea typeface="Calibri"/>
                <a:cs typeface="Calibri"/>
                <a:sym typeface="Calibri"/>
              </a:rPr>
              <a:t>Private Vulnerability Reporting</a:t>
            </a:r>
            <a:endParaRPr b="1" i="0" sz="1300">
              <a:solidFill>
                <a:srgbClr val="B8860B"/>
              </a:solidFill>
              <a:latin typeface="Calibri"/>
              <a:ea typeface="Calibri"/>
              <a:cs typeface="Calibri"/>
              <a:sym typeface="Calibri"/>
            </a:endParaRPr>
          </a:p>
        </p:txBody>
      </p:sp>
      <p:sp>
        <p:nvSpPr>
          <p:cNvPr id="483" name="Google Shape;483;p44"/>
          <p:cNvSpPr txBox="1"/>
          <p:nvPr/>
        </p:nvSpPr>
        <p:spPr>
          <a:xfrm>
            <a:off x="8235695" y="3200400"/>
            <a:ext cx="2919900" cy="18507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a:solidFill>
                  <a:srgbClr val="16181D"/>
                </a:solidFill>
                <a:latin typeface="Calibri"/>
                <a:ea typeface="Calibri"/>
                <a:cs typeface="Calibri"/>
                <a:sym typeface="Calibri"/>
              </a:rPr>
              <a:t>A dedicated, secure channel lets users and researchers privately report potential security concerns.</a:t>
            </a:r>
            <a:br>
              <a:rPr b="0" i="0" lang="en-US" sz="1400">
                <a:solidFill>
                  <a:srgbClr val="16181D"/>
                </a:solidFill>
                <a:latin typeface="Calibri"/>
                <a:ea typeface="Calibri"/>
                <a:cs typeface="Calibri"/>
                <a:sym typeface="Calibri"/>
              </a:rPr>
            </a:br>
            <a:br>
              <a:rPr b="0" i="0" lang="en-US" sz="1400">
                <a:solidFill>
                  <a:srgbClr val="16181D"/>
                </a:solidFill>
                <a:latin typeface="Calibri"/>
                <a:ea typeface="Calibri"/>
                <a:cs typeface="Calibri"/>
                <a:sym typeface="Calibri"/>
              </a:rPr>
            </a:br>
            <a:r>
              <a:rPr b="0" i="0" lang="en-US" sz="1400">
                <a:solidFill>
                  <a:srgbClr val="16181D"/>
                </a:solidFill>
                <a:latin typeface="Calibri"/>
                <a:ea typeface="Calibri"/>
                <a:cs typeface="Calibri"/>
                <a:sym typeface="Calibri"/>
              </a:rPr>
              <a:t>It establishes a responsible disclosure framework: the team can analyze and resolve vulnerabilities confidentially before public disclosure.</a:t>
            </a:r>
            <a:endParaRPr b="0" i="0" sz="1400">
              <a:solidFill>
                <a:srgbClr val="16181D"/>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5"/>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7 · SECURITY</a:t>
            </a:r>
            <a:endParaRPr/>
          </a:p>
        </p:txBody>
      </p:sp>
      <p:sp>
        <p:nvSpPr>
          <p:cNvPr id="489" name="Google Shape;489;p45"/>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6181D"/>
                </a:solidFill>
                <a:latin typeface="Calibri"/>
                <a:ea typeface="Calibri"/>
                <a:cs typeface="Calibri"/>
                <a:sym typeface="Calibri"/>
              </a:rPr>
              <a:t>SonarQube</a:t>
            </a:r>
            <a:r>
              <a:rPr b="1" lang="en-US" sz="3000">
                <a:solidFill>
                  <a:srgbClr val="16181D"/>
                </a:solidFill>
                <a:latin typeface="Calibri"/>
                <a:ea typeface="Calibri"/>
                <a:cs typeface="Calibri"/>
                <a:sym typeface="Calibri"/>
              </a:rPr>
              <a:t>:</a:t>
            </a:r>
            <a:r>
              <a:rPr b="1" i="0" lang="en-US" sz="3000">
                <a:solidFill>
                  <a:srgbClr val="16181D"/>
                </a:solidFill>
                <a:latin typeface="Calibri"/>
                <a:ea typeface="Calibri"/>
                <a:cs typeface="Calibri"/>
                <a:sym typeface="Calibri"/>
              </a:rPr>
              <a:t> from 97 to 0 security issues</a:t>
            </a:r>
            <a:endParaRPr b="1" i="0" sz="3000">
              <a:solidFill>
                <a:srgbClr val="16181D"/>
              </a:solidFill>
              <a:latin typeface="Calibri"/>
              <a:ea typeface="Calibri"/>
              <a:cs typeface="Calibri"/>
              <a:sym typeface="Calibri"/>
            </a:endParaRPr>
          </a:p>
        </p:txBody>
      </p:sp>
      <p:sp>
        <p:nvSpPr>
          <p:cNvPr id="490" name="Google Shape;490;p45"/>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p45"/>
          <p:cNvSpPr txBox="1"/>
          <p:nvPr/>
        </p:nvSpPr>
        <p:spPr>
          <a:xfrm>
            <a:off x="777240" y="1691640"/>
            <a:ext cx="10607100" cy="1883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Explicit, measurable objective: </a:t>
            </a:r>
            <a:r>
              <a:rPr lang="en-US" sz="1700">
                <a:solidFill>
                  <a:srgbClr val="16181D"/>
                </a:solidFill>
                <a:latin typeface="Calibri"/>
                <a:ea typeface="Calibri"/>
                <a:cs typeface="Calibri"/>
                <a:sym typeface="Calibri"/>
              </a:rPr>
              <a:t>zero security vulnerabilities across all adopted tools.</a:t>
            </a:r>
            <a:endParaRPr sz="17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Single recurring root cause: </a:t>
            </a:r>
            <a:r>
              <a:rPr lang="en-US" sz="1700">
                <a:solidFill>
                  <a:srgbClr val="16181D"/>
                </a:solidFill>
                <a:latin typeface="Calibri"/>
                <a:ea typeface="Calibri"/>
                <a:cs typeface="Calibri"/>
                <a:sym typeface="Calibri"/>
              </a:rPr>
              <a:t>forward calls executed without explicitly handling ServletException and IOException.</a:t>
            </a:r>
            <a:endParaRPr sz="17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Potential impact: </a:t>
            </a:r>
            <a:r>
              <a:rPr lang="en-US" sz="1700">
                <a:solidFill>
                  <a:srgbClr val="16181D"/>
                </a:solidFill>
                <a:latin typeface="Calibri"/>
                <a:ea typeface="Calibri"/>
                <a:cs typeface="Calibri"/>
                <a:sym typeface="Calibri"/>
              </a:rPr>
              <a:t>flow interruptions, inconsistent state responses or accidental exposure of detailed error stack traces, compromising overall robustness.</a:t>
            </a:r>
            <a:endParaRPr sz="1700">
              <a:solidFill>
                <a:srgbClr val="16181D"/>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Applied fix: </a:t>
            </a:r>
            <a:r>
              <a:rPr lang="en-US" sz="1700">
                <a:solidFill>
                  <a:srgbClr val="16181D"/>
                </a:solidFill>
                <a:latin typeface="Calibri"/>
                <a:ea typeface="Calibri"/>
                <a:cs typeface="Calibri"/>
                <a:sym typeface="Calibri"/>
              </a:rPr>
              <a:t>all forward calls encapsulated within try/catch blocks, so errors are handled in a controlled and secure manner.</a:t>
            </a:r>
            <a:endParaRPr sz="1700">
              <a:solidFill>
                <a:srgbClr val="16181D"/>
              </a:solidFill>
              <a:latin typeface="Calibri"/>
              <a:ea typeface="Calibri"/>
              <a:cs typeface="Calibri"/>
              <a:sym typeface="Calibri"/>
            </a:endParaRPr>
          </a:p>
        </p:txBody>
      </p:sp>
      <p:pic>
        <p:nvPicPr>
          <p:cNvPr descr="image12.png" id="492" name="Google Shape;492;p45"/>
          <p:cNvPicPr preferRelativeResize="0"/>
          <p:nvPr/>
        </p:nvPicPr>
        <p:blipFill rotWithShape="1">
          <a:blip r:embed="rId3">
            <a:alphaModFix/>
          </a:blip>
          <a:srcRect b="0" l="0" r="0" t="0"/>
          <a:stretch/>
        </p:blipFill>
        <p:spPr>
          <a:xfrm>
            <a:off x="1056055" y="3699023"/>
            <a:ext cx="4806315" cy="2194560"/>
          </a:xfrm>
          <a:prstGeom prst="rect">
            <a:avLst/>
          </a:prstGeom>
          <a:noFill/>
          <a:ln>
            <a:noFill/>
          </a:ln>
        </p:spPr>
      </p:pic>
      <p:sp>
        <p:nvSpPr>
          <p:cNvPr id="493" name="Google Shape;493;p45"/>
          <p:cNvSpPr txBox="1"/>
          <p:nvPr/>
        </p:nvSpPr>
        <p:spPr>
          <a:xfrm>
            <a:off x="670034" y="6002045"/>
            <a:ext cx="55779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400">
                <a:solidFill>
                  <a:srgbClr val="5B6270"/>
                </a:solidFill>
                <a:latin typeface="Calibri"/>
                <a:ea typeface="Calibri"/>
                <a:cs typeface="Calibri"/>
                <a:sym typeface="Calibri"/>
              </a:rPr>
              <a:t>before</a:t>
            </a:r>
            <a:endParaRPr b="0" i="1" sz="1400">
              <a:solidFill>
                <a:srgbClr val="5B6270"/>
              </a:solidFill>
              <a:latin typeface="Calibri"/>
              <a:ea typeface="Calibri"/>
              <a:cs typeface="Calibri"/>
              <a:sym typeface="Calibri"/>
            </a:endParaRPr>
          </a:p>
        </p:txBody>
      </p:sp>
      <p:pic>
        <p:nvPicPr>
          <p:cNvPr descr="image13.jpeg" id="494" name="Google Shape;494;p45"/>
          <p:cNvPicPr preferRelativeResize="0"/>
          <p:nvPr/>
        </p:nvPicPr>
        <p:blipFill rotWithShape="1">
          <a:blip r:embed="rId4">
            <a:alphaModFix/>
          </a:blip>
          <a:srcRect b="0" l="0" r="0" t="0"/>
          <a:stretch/>
        </p:blipFill>
        <p:spPr>
          <a:xfrm>
            <a:off x="7250523" y="3699023"/>
            <a:ext cx="3604074" cy="2194560"/>
          </a:xfrm>
          <a:prstGeom prst="rect">
            <a:avLst/>
          </a:prstGeom>
          <a:noFill/>
          <a:ln>
            <a:noFill/>
          </a:ln>
        </p:spPr>
      </p:pic>
      <p:sp>
        <p:nvSpPr>
          <p:cNvPr id="495" name="Google Shape;495;p45"/>
          <p:cNvSpPr txBox="1"/>
          <p:nvPr/>
        </p:nvSpPr>
        <p:spPr>
          <a:xfrm>
            <a:off x="6720840" y="6002046"/>
            <a:ext cx="46635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400">
                <a:solidFill>
                  <a:srgbClr val="5B6270"/>
                </a:solidFill>
                <a:latin typeface="Calibri"/>
                <a:ea typeface="Calibri"/>
                <a:cs typeface="Calibri"/>
                <a:sym typeface="Calibri"/>
              </a:rPr>
              <a:t>after</a:t>
            </a:r>
            <a:endParaRPr b="0" i="1" sz="1400">
              <a:solidFill>
                <a:srgbClr val="5B627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6"/>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7 · SECURITY</a:t>
            </a:r>
            <a:endParaRPr/>
          </a:p>
        </p:txBody>
      </p:sp>
      <p:sp>
        <p:nvSpPr>
          <p:cNvPr id="501" name="Google Shape;501;p46"/>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GitGuardian — secret detection</a:t>
            </a:r>
            <a:endParaRPr/>
          </a:p>
        </p:txBody>
      </p:sp>
      <p:sp>
        <p:nvSpPr>
          <p:cNvPr id="502" name="Google Shape;502;p46"/>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03" name="Google Shape;503;p46"/>
          <p:cNvSpPr txBox="1"/>
          <p:nvPr/>
        </p:nvSpPr>
        <p:spPr>
          <a:xfrm>
            <a:off x="777240" y="1600200"/>
            <a:ext cx="106071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16181D"/>
                </a:solidFill>
                <a:latin typeface="Calibri"/>
                <a:ea typeface="Calibri"/>
                <a:cs typeface="Calibri"/>
                <a:sym typeface="Calibri"/>
              </a:rPr>
              <a:t>4 findings </a:t>
            </a:r>
            <a:r>
              <a:rPr i="0" lang="en-US" sz="1600">
                <a:solidFill>
                  <a:srgbClr val="16181D"/>
                </a:solidFill>
                <a:latin typeface="Calibri"/>
                <a:ea typeface="Calibri"/>
                <a:cs typeface="Calibri"/>
                <a:sym typeface="Calibri"/>
              </a:rPr>
              <a:t>raised on the repository, all of them </a:t>
            </a:r>
            <a:r>
              <a:rPr b="1" i="0" lang="en-US" sz="1600">
                <a:solidFill>
                  <a:srgbClr val="16181D"/>
                </a:solidFill>
                <a:latin typeface="Calibri"/>
                <a:ea typeface="Calibri"/>
                <a:cs typeface="Calibri"/>
                <a:sym typeface="Calibri"/>
              </a:rPr>
              <a:t>manually reviewed </a:t>
            </a:r>
            <a:r>
              <a:rPr i="0" lang="en-US" sz="1600">
                <a:solidFill>
                  <a:srgbClr val="16181D"/>
                </a:solidFill>
                <a:latin typeface="Calibri"/>
                <a:ea typeface="Calibri"/>
                <a:cs typeface="Calibri"/>
                <a:sym typeface="Calibri"/>
              </a:rPr>
              <a:t>and confirmed as </a:t>
            </a:r>
            <a:r>
              <a:rPr b="1" i="0" lang="en-US" sz="1600">
                <a:solidFill>
                  <a:srgbClr val="16181D"/>
                </a:solidFill>
                <a:latin typeface="Calibri"/>
                <a:ea typeface="Calibri"/>
                <a:cs typeface="Calibri"/>
                <a:sym typeface="Calibri"/>
              </a:rPr>
              <a:t>false positives</a:t>
            </a:r>
            <a:r>
              <a:rPr i="0" lang="en-US" sz="1600">
                <a:solidFill>
                  <a:srgbClr val="16181D"/>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pic>
        <p:nvPicPr>
          <p:cNvPr descr="image.png" id="504" name="Google Shape;504;p46"/>
          <p:cNvPicPr preferRelativeResize="0"/>
          <p:nvPr/>
        </p:nvPicPr>
        <p:blipFill rotWithShape="1">
          <a:blip r:embed="rId3">
            <a:alphaModFix/>
          </a:blip>
          <a:srcRect b="0" l="0" r="0" t="0"/>
          <a:stretch/>
        </p:blipFill>
        <p:spPr>
          <a:xfrm>
            <a:off x="1496675" y="2011680"/>
            <a:ext cx="9168169" cy="2606039"/>
          </a:xfrm>
          <a:prstGeom prst="rect">
            <a:avLst/>
          </a:prstGeom>
          <a:noFill/>
          <a:ln>
            <a:noFill/>
          </a:ln>
        </p:spPr>
      </p:pic>
      <p:sp>
        <p:nvSpPr>
          <p:cNvPr id="505" name="Google Shape;505;p46"/>
          <p:cNvSpPr txBox="1"/>
          <p:nvPr/>
        </p:nvSpPr>
        <p:spPr>
          <a:xfrm>
            <a:off x="777240" y="4690872"/>
            <a:ext cx="106071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400">
                <a:solidFill>
                  <a:srgbClr val="5B6270"/>
                </a:solidFill>
                <a:latin typeface="Calibri"/>
                <a:ea typeface="Calibri"/>
                <a:cs typeface="Calibri"/>
                <a:sym typeface="Calibri"/>
              </a:rPr>
              <a:t>GitGuardian scan results: every finding marked as "Not a secret (false positive)"</a:t>
            </a:r>
            <a:endParaRPr b="0" i="1" sz="1400">
              <a:solidFill>
                <a:srgbClr val="5B6270"/>
              </a:solidFill>
              <a:latin typeface="Calibri"/>
              <a:ea typeface="Calibri"/>
              <a:cs typeface="Calibri"/>
              <a:sym typeface="Calibri"/>
            </a:endParaRPr>
          </a:p>
        </p:txBody>
      </p:sp>
      <p:sp>
        <p:nvSpPr>
          <p:cNvPr id="506" name="Google Shape;506;p46"/>
          <p:cNvSpPr txBox="1"/>
          <p:nvPr/>
        </p:nvSpPr>
        <p:spPr>
          <a:xfrm>
            <a:off x="777240" y="5112253"/>
            <a:ext cx="10058400" cy="129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600">
                <a:solidFill>
                  <a:srgbClr val="B8860B"/>
                </a:solidFill>
                <a:latin typeface="Calibri"/>
                <a:ea typeface="Calibri"/>
                <a:cs typeface="Calibri"/>
                <a:sym typeface="Calibri"/>
              </a:rPr>
              <a:t>▸  </a:t>
            </a:r>
            <a:r>
              <a:rPr b="1" i="0" lang="en-US" sz="1600">
                <a:solidFill>
                  <a:srgbClr val="16181D"/>
                </a:solidFill>
                <a:latin typeface="Calibri"/>
                <a:ea typeface="Calibri"/>
                <a:cs typeface="Calibri"/>
                <a:sym typeface="Calibri"/>
              </a:rPr>
              <a:t>Findings 1–2: </a:t>
            </a:r>
            <a:r>
              <a:rPr b="0" i="0" lang="en-US" sz="1600">
                <a:solidFill>
                  <a:srgbClr val="16181D"/>
                </a:solidFill>
                <a:latin typeface="Calibri"/>
                <a:ea typeface="Calibri"/>
                <a:cs typeface="Calibri"/>
                <a:sym typeface="Calibri"/>
              </a:rPr>
              <a:t>dummy credentials used strictly for testing activities. </a:t>
            </a:r>
            <a:endParaRPr i="0" sz="1600">
              <a:solidFill>
                <a:schemeClr val="dk1"/>
              </a:solidFill>
              <a:latin typeface="Calibri"/>
              <a:ea typeface="Calibri"/>
              <a:cs typeface="Calibri"/>
              <a:sym typeface="Calibri"/>
            </a:endParaRPr>
          </a:p>
          <a:p>
            <a:pPr indent="0" lvl="0" marL="0" marR="0" rtl="0" algn="l">
              <a:lnSpc>
                <a:spcPct val="106000"/>
              </a:lnSpc>
              <a:spcBef>
                <a:spcPts val="0"/>
              </a:spcBef>
              <a:spcAft>
                <a:spcPts val="0"/>
              </a:spcAft>
              <a:buNone/>
            </a:pPr>
            <a:r>
              <a:rPr b="1" lang="en-US" sz="1600">
                <a:solidFill>
                  <a:srgbClr val="B8860B"/>
                </a:solidFill>
                <a:latin typeface="Calibri"/>
                <a:ea typeface="Calibri"/>
                <a:cs typeface="Calibri"/>
                <a:sym typeface="Calibri"/>
              </a:rPr>
              <a:t>▸  </a:t>
            </a:r>
            <a:r>
              <a:rPr b="1" lang="en-US" sz="1600">
                <a:solidFill>
                  <a:srgbClr val="16181D"/>
                </a:solidFill>
                <a:latin typeface="Calibri"/>
                <a:ea typeface="Calibri"/>
                <a:cs typeface="Calibri"/>
                <a:sym typeface="Calibri"/>
              </a:rPr>
              <a:t>Finding 3: </a:t>
            </a:r>
            <a:r>
              <a:rPr lang="en-US" sz="1600">
                <a:solidFill>
                  <a:srgbClr val="16181D"/>
                </a:solidFill>
                <a:latin typeface="Calibri"/>
                <a:ea typeface="Calibri"/>
                <a:cs typeface="Calibri"/>
                <a:sym typeface="Calibri"/>
              </a:rPr>
              <a:t>it is Bash and Docker Compose parameter expansion, which halts execution and prints the message if DB_PASSWORD is null or unset. It is in fact a validation check, flagged only because the scanner detected the keyword PASSWORD.</a:t>
            </a:r>
            <a:endParaRPr sz="1600">
              <a:solidFill>
                <a:srgbClr val="16181D"/>
              </a:solidFill>
              <a:latin typeface="Calibri"/>
              <a:ea typeface="Calibri"/>
              <a:cs typeface="Calibri"/>
              <a:sym typeface="Calibri"/>
            </a:endParaRPr>
          </a:p>
          <a:p>
            <a:pPr indent="0" lvl="0" marL="0" marR="0" rtl="0" algn="l">
              <a:lnSpc>
                <a:spcPct val="106000"/>
              </a:lnSpc>
              <a:spcBef>
                <a:spcPts val="0"/>
              </a:spcBef>
              <a:spcAft>
                <a:spcPts val="0"/>
              </a:spcAft>
              <a:buNone/>
            </a:pPr>
            <a:r>
              <a:rPr b="1" lang="en-US" sz="1600">
                <a:solidFill>
                  <a:srgbClr val="B8860B"/>
                </a:solidFill>
                <a:latin typeface="Calibri"/>
                <a:ea typeface="Calibri"/>
                <a:cs typeface="Calibri"/>
                <a:sym typeface="Calibri"/>
              </a:rPr>
              <a:t>▸  </a:t>
            </a:r>
            <a:r>
              <a:rPr b="1" i="0" lang="en-US" sz="1600">
                <a:solidFill>
                  <a:srgbClr val="16181D"/>
                </a:solidFill>
                <a:latin typeface="Calibri"/>
                <a:ea typeface="Calibri"/>
                <a:cs typeface="Calibri"/>
                <a:sym typeface="Calibri"/>
              </a:rPr>
              <a:t>Finding 4: </a:t>
            </a:r>
            <a:r>
              <a:rPr b="0" i="0" lang="en-US" sz="1600">
                <a:solidFill>
                  <a:srgbClr val="16181D"/>
                </a:solidFill>
                <a:latin typeface="Calibri"/>
                <a:ea typeface="Calibri"/>
                <a:cs typeface="Calibri"/>
                <a:sym typeface="Calibri"/>
              </a:rPr>
              <a:t>a benchmarking script, with no security risk. </a:t>
            </a:r>
            <a:endParaRPr sz="16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7"/>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7 · SECURITY</a:t>
            </a:r>
            <a:endParaRPr/>
          </a:p>
        </p:txBody>
      </p:sp>
      <p:sp>
        <p:nvSpPr>
          <p:cNvPr id="512" name="Google Shape;512;p47"/>
          <p:cNvSpPr txBox="1"/>
          <p:nvPr/>
        </p:nvSpPr>
        <p:spPr>
          <a:xfrm>
            <a:off x="777240" y="749808"/>
            <a:ext cx="106071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a:solidFill>
                  <a:srgbClr val="16181D"/>
                </a:solidFill>
                <a:latin typeface="Calibri"/>
                <a:ea typeface="Calibri"/>
                <a:cs typeface="Calibri"/>
                <a:sym typeface="Calibri"/>
              </a:rPr>
              <a:t>Snyk Code</a:t>
            </a:r>
            <a:r>
              <a:rPr b="1" lang="en-US" sz="3000">
                <a:solidFill>
                  <a:srgbClr val="16181D"/>
                </a:solidFill>
                <a:latin typeface="Calibri"/>
                <a:ea typeface="Calibri"/>
                <a:cs typeface="Calibri"/>
                <a:sym typeface="Calibri"/>
              </a:rPr>
              <a:t>: </a:t>
            </a:r>
            <a:r>
              <a:rPr b="1" i="0" lang="en-US" sz="3000">
                <a:solidFill>
                  <a:srgbClr val="16181D"/>
                </a:solidFill>
                <a:latin typeface="Calibri"/>
                <a:ea typeface="Calibri"/>
                <a:cs typeface="Calibri"/>
                <a:sym typeface="Calibri"/>
              </a:rPr>
              <a:t>static application security testing</a:t>
            </a:r>
            <a:endParaRPr/>
          </a:p>
        </p:txBody>
      </p:sp>
      <p:sp>
        <p:nvSpPr>
          <p:cNvPr id="513" name="Google Shape;513;p47"/>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47"/>
          <p:cNvSpPr txBox="1"/>
          <p:nvPr/>
        </p:nvSpPr>
        <p:spPr>
          <a:xfrm>
            <a:off x="777240" y="1691640"/>
            <a:ext cx="5806500" cy="41784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Objective: </a:t>
            </a:r>
            <a:r>
              <a:rPr lang="en-US" sz="1700">
                <a:solidFill>
                  <a:srgbClr val="16181D"/>
                </a:solidFill>
                <a:latin typeface="Calibri"/>
                <a:ea typeface="Calibri"/>
                <a:cs typeface="Calibri"/>
                <a:sym typeface="Calibri"/>
              </a:rPr>
              <a:t>zero issues, eliminating any potentially vulnerable pattern identified in the initial run.</a:t>
            </a:r>
            <a:br>
              <a:rPr lang="en-US" sz="1700">
                <a:solidFill>
                  <a:schemeClr val="dk1"/>
                </a:solidFill>
                <a:latin typeface="Calibri"/>
                <a:ea typeface="Calibri"/>
                <a:cs typeface="Calibri"/>
                <a:sym typeface="Calibri"/>
              </a:rPr>
            </a:br>
            <a:endParaRPr sz="1700">
              <a:solidFill>
                <a:srgbClr val="16181D"/>
              </a:solidFill>
              <a:latin typeface="Calibri"/>
              <a:ea typeface="Calibri"/>
              <a:cs typeface="Calibri"/>
              <a:sym typeface="Calibri"/>
            </a:endParaRPr>
          </a:p>
          <a:p>
            <a:pPr indent="0" lvl="0" marL="0" marR="0" rtl="0" algn="l">
              <a:lnSpc>
                <a:spcPct val="106000"/>
              </a:lnSpc>
              <a:spcBef>
                <a:spcPts val="9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Result: </a:t>
            </a:r>
            <a:r>
              <a:rPr lang="en-US" sz="1700">
                <a:solidFill>
                  <a:srgbClr val="16181D"/>
                </a:solidFill>
                <a:latin typeface="Calibri"/>
                <a:ea typeface="Calibri"/>
                <a:cs typeface="Calibri"/>
                <a:sym typeface="Calibri"/>
              </a:rPr>
              <a:t>a single finding, manually verified as a false positive and the scanner detected the word "password" in a non-sensitive context.</a:t>
            </a:r>
            <a:endParaRPr sz="1700">
              <a:solidFill>
                <a:srgbClr val="16181D"/>
              </a:solidFill>
              <a:latin typeface="Calibri"/>
              <a:ea typeface="Calibri"/>
              <a:cs typeface="Calibri"/>
              <a:sym typeface="Calibri"/>
            </a:endParaRPr>
          </a:p>
          <a:p>
            <a:pPr indent="0" lvl="0" marL="0" marR="0" rtl="0" algn="l">
              <a:lnSpc>
                <a:spcPct val="106000"/>
              </a:lnSpc>
              <a:spcBef>
                <a:spcPts val="900"/>
              </a:spcBef>
              <a:spcAft>
                <a:spcPts val="0"/>
              </a:spcAft>
              <a:buNone/>
            </a:pPr>
            <a:r>
              <a:rPr b="1" lang="en-US" sz="1500">
                <a:solidFill>
                  <a:srgbClr val="5B6270"/>
                </a:solidFill>
                <a:latin typeface="Calibri"/>
                <a:ea typeface="Calibri"/>
                <a:cs typeface="Calibri"/>
                <a:sym typeface="Calibri"/>
              </a:rPr>
              <a:t>–  </a:t>
            </a:r>
            <a:r>
              <a:rPr lang="en-US" sz="1500">
                <a:solidFill>
                  <a:srgbClr val="5B6270"/>
                </a:solidFill>
                <a:latin typeface="Calibri"/>
                <a:ea typeface="Calibri"/>
                <a:cs typeface="Calibri"/>
                <a:sym typeface="Calibri"/>
              </a:rPr>
              <a:t>The match is on the client-side validation messages of the registration form (registerValidation.js): no secret is exposed and no corrective action was required.</a:t>
            </a:r>
            <a:br>
              <a:rPr lang="en-US" sz="1700">
                <a:solidFill>
                  <a:schemeClr val="dk1"/>
                </a:solidFill>
                <a:latin typeface="Calibri"/>
                <a:ea typeface="Calibri"/>
                <a:cs typeface="Calibri"/>
                <a:sym typeface="Calibri"/>
              </a:rPr>
            </a:br>
            <a:endParaRPr sz="1700">
              <a:solidFill>
                <a:srgbClr val="5B6270"/>
              </a:solidFill>
              <a:latin typeface="Calibri"/>
              <a:ea typeface="Calibri"/>
              <a:cs typeface="Calibri"/>
              <a:sym typeface="Calibri"/>
            </a:endParaRPr>
          </a:p>
          <a:p>
            <a:pPr indent="0" lvl="0" marL="0" marR="0" rtl="0" algn="l">
              <a:lnSpc>
                <a:spcPct val="106000"/>
              </a:lnSpc>
              <a:spcBef>
                <a:spcPts val="600"/>
              </a:spcBef>
              <a:spcAft>
                <a:spcPts val="0"/>
              </a:spcAft>
              <a:buNone/>
            </a:pPr>
            <a:r>
              <a:rPr b="1" lang="en-US" sz="1700">
                <a:solidFill>
                  <a:srgbClr val="B8860B"/>
                </a:solidFill>
                <a:latin typeface="Calibri"/>
                <a:ea typeface="Calibri"/>
                <a:cs typeface="Calibri"/>
                <a:sym typeface="Calibri"/>
              </a:rPr>
              <a:t>▸  </a:t>
            </a:r>
            <a:r>
              <a:rPr b="1" lang="en-US" sz="1700">
                <a:solidFill>
                  <a:srgbClr val="16181D"/>
                </a:solidFill>
                <a:latin typeface="Calibri"/>
                <a:ea typeface="Calibri"/>
                <a:cs typeface="Calibri"/>
                <a:sym typeface="Calibri"/>
              </a:rPr>
              <a:t>Snyk in the CI pipeline: </a:t>
            </a:r>
            <a:r>
              <a:rPr lang="en-US" sz="1700">
                <a:solidFill>
                  <a:srgbClr val="16181D"/>
                </a:solidFill>
                <a:latin typeface="Calibri"/>
                <a:ea typeface="Calibri"/>
                <a:cs typeface="Calibri"/>
                <a:sym typeface="Calibri"/>
              </a:rPr>
              <a:t>Open Source (SCA) on Maven dependencies with a strict minimum severity threshold, Monitor tracking dependency health on the main branch, Code (SAST) honouring the exclusions declared in the .snyk file.</a:t>
            </a:r>
            <a:endParaRPr sz="1700">
              <a:solidFill>
                <a:srgbClr val="16181D"/>
              </a:solidFill>
              <a:latin typeface="Calibri"/>
              <a:ea typeface="Calibri"/>
              <a:cs typeface="Calibri"/>
              <a:sym typeface="Calibri"/>
            </a:endParaRPr>
          </a:p>
        </p:txBody>
      </p:sp>
      <p:pic>
        <p:nvPicPr>
          <p:cNvPr descr="image.png" id="515" name="Google Shape;515;p47"/>
          <p:cNvPicPr preferRelativeResize="0"/>
          <p:nvPr/>
        </p:nvPicPr>
        <p:blipFill rotWithShape="1">
          <a:blip r:embed="rId3">
            <a:alphaModFix/>
          </a:blip>
          <a:srcRect b="0" l="0" r="0" t="0"/>
          <a:stretch/>
        </p:blipFill>
        <p:spPr>
          <a:xfrm>
            <a:off x="6897036" y="1711676"/>
            <a:ext cx="4600876" cy="2234964"/>
          </a:xfrm>
          <a:prstGeom prst="rect">
            <a:avLst/>
          </a:prstGeom>
          <a:noFill/>
          <a:ln>
            <a:noFill/>
          </a:ln>
        </p:spPr>
      </p:pic>
      <p:sp>
        <p:nvSpPr>
          <p:cNvPr id="516" name="Google Shape;516;p47"/>
          <p:cNvSpPr txBox="1"/>
          <p:nvPr/>
        </p:nvSpPr>
        <p:spPr>
          <a:xfrm>
            <a:off x="6903720" y="4026477"/>
            <a:ext cx="44805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300">
                <a:solidFill>
                  <a:srgbClr val="5B6270"/>
                </a:solidFill>
                <a:latin typeface="Calibri"/>
                <a:ea typeface="Calibri"/>
                <a:cs typeface="Calibri"/>
                <a:sym typeface="Calibri"/>
              </a:rPr>
              <a:t>Snyk Code — the only reported finding</a:t>
            </a:r>
            <a:endParaRPr b="0" i="1" sz="1300">
              <a:solidFill>
                <a:srgbClr val="5B627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8"/>
          <p:cNvSpPr/>
          <p:nvPr/>
        </p:nvSpPr>
        <p:spPr>
          <a:xfrm>
            <a:off x="0" y="0"/>
            <a:ext cx="310800" cy="68580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22" name="Google Shape;522;p48"/>
          <p:cNvSpPr/>
          <p:nvPr/>
        </p:nvSpPr>
        <p:spPr>
          <a:xfrm>
            <a:off x="1417320" y="2788920"/>
            <a:ext cx="822900" cy="8229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48"/>
          <p:cNvSpPr txBox="1"/>
          <p:nvPr/>
        </p:nvSpPr>
        <p:spPr>
          <a:xfrm>
            <a:off x="1417320" y="2962656"/>
            <a:ext cx="822900" cy="54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400">
                <a:solidFill>
                  <a:srgbClr val="B8860B"/>
                </a:solidFill>
                <a:latin typeface="Calibri"/>
                <a:ea typeface="Calibri"/>
                <a:cs typeface="Calibri"/>
                <a:sym typeface="Calibri"/>
              </a:rPr>
              <a:t>8</a:t>
            </a:r>
            <a:endParaRPr/>
          </a:p>
        </p:txBody>
      </p:sp>
      <p:sp>
        <p:nvSpPr>
          <p:cNvPr id="524" name="Google Shape;524;p48"/>
          <p:cNvSpPr txBox="1"/>
          <p:nvPr/>
        </p:nvSpPr>
        <p:spPr>
          <a:xfrm>
            <a:off x="2606040" y="2798064"/>
            <a:ext cx="91440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16181D"/>
                </a:solidFill>
                <a:latin typeface="Calibri"/>
                <a:ea typeface="Calibri"/>
                <a:cs typeface="Calibri"/>
                <a:sym typeface="Calibri"/>
              </a:rPr>
              <a:t>Final considerations</a:t>
            </a:r>
            <a:endParaRPr/>
          </a:p>
        </p:txBody>
      </p:sp>
      <p:sp>
        <p:nvSpPr>
          <p:cNvPr id="525" name="Google Shape;525;p48"/>
          <p:cNvSpPr/>
          <p:nvPr/>
        </p:nvSpPr>
        <p:spPr>
          <a:xfrm>
            <a:off x="2651760" y="3794760"/>
            <a:ext cx="1463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9"/>
          <p:cNvSpPr txBox="1"/>
          <p:nvPr/>
        </p:nvSpPr>
        <p:spPr>
          <a:xfrm>
            <a:off x="777240" y="438912"/>
            <a:ext cx="10607100" cy="27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a:solidFill>
                  <a:srgbClr val="B8860B"/>
                </a:solidFill>
                <a:latin typeface="Calibri"/>
                <a:ea typeface="Calibri"/>
                <a:cs typeface="Calibri"/>
                <a:sym typeface="Calibri"/>
              </a:rPr>
              <a:t>8 · CONCLUSIONS</a:t>
            </a:r>
            <a:endParaRPr/>
          </a:p>
        </p:txBody>
      </p:sp>
      <p:sp>
        <p:nvSpPr>
          <p:cNvPr id="531" name="Google Shape;531;p49"/>
          <p:cNvSpPr txBox="1"/>
          <p:nvPr/>
        </p:nvSpPr>
        <p:spPr>
          <a:xfrm>
            <a:off x="777240" y="749808"/>
            <a:ext cx="10607100" cy="64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a:solidFill>
                  <a:srgbClr val="16181D"/>
                </a:solidFill>
                <a:latin typeface="Calibri"/>
                <a:ea typeface="Calibri"/>
                <a:cs typeface="Calibri"/>
                <a:sym typeface="Calibri"/>
              </a:rPr>
              <a:t>Final considerations</a:t>
            </a:r>
            <a:endParaRPr/>
          </a:p>
        </p:txBody>
      </p:sp>
      <p:sp>
        <p:nvSpPr>
          <p:cNvPr id="532" name="Google Shape;532;p49"/>
          <p:cNvSpPr/>
          <p:nvPr/>
        </p:nvSpPr>
        <p:spPr>
          <a:xfrm>
            <a:off x="777240" y="1463040"/>
            <a:ext cx="10515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49"/>
          <p:cNvSpPr txBox="1"/>
          <p:nvPr/>
        </p:nvSpPr>
        <p:spPr>
          <a:xfrm>
            <a:off x="777240" y="1857177"/>
            <a:ext cx="10607100" cy="19086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1700">
                <a:solidFill>
                  <a:srgbClr val="B8860B"/>
                </a:solidFill>
                <a:latin typeface="Calibri"/>
                <a:ea typeface="Calibri"/>
                <a:cs typeface="Calibri"/>
                <a:sym typeface="Calibri"/>
              </a:rPr>
              <a:t>▸  </a:t>
            </a:r>
            <a:r>
              <a:rPr lang="en-US" sz="1700">
                <a:solidFill>
                  <a:srgbClr val="16181D"/>
                </a:solidFill>
                <a:latin typeface="Calibri"/>
                <a:ea typeface="Calibri"/>
                <a:cs typeface="Calibri"/>
                <a:sym typeface="Calibri"/>
              </a:rPr>
              <a:t>The standard achieved by Rated shows that dependability is the direct result of a systematic, repeatable and highly measurable engineering workflow.</a:t>
            </a:r>
            <a:endParaRPr sz="1700">
              <a:solidFill>
                <a:srgbClr val="16181D"/>
              </a:solidFill>
              <a:latin typeface="Calibri"/>
              <a:ea typeface="Calibri"/>
              <a:cs typeface="Calibri"/>
              <a:sym typeface="Calibri"/>
            </a:endParaRPr>
          </a:p>
          <a:p>
            <a:pPr indent="0" lvl="0" marL="0" marR="0" rtl="0" algn="l">
              <a:lnSpc>
                <a:spcPct val="106000"/>
              </a:lnSpc>
              <a:spcBef>
                <a:spcPts val="1000"/>
              </a:spcBef>
              <a:spcAft>
                <a:spcPts val="0"/>
              </a:spcAft>
              <a:buNone/>
            </a:pPr>
            <a:r>
              <a:rPr b="1" lang="en-US" sz="1700">
                <a:solidFill>
                  <a:srgbClr val="B8860B"/>
                </a:solidFill>
                <a:latin typeface="Calibri"/>
                <a:ea typeface="Calibri"/>
                <a:cs typeface="Calibri"/>
                <a:sym typeface="Calibri"/>
              </a:rPr>
              <a:t>▸  </a:t>
            </a:r>
            <a:r>
              <a:rPr lang="en-US" sz="1700">
                <a:solidFill>
                  <a:srgbClr val="16181D"/>
                </a:solidFill>
                <a:latin typeface="Calibri"/>
                <a:ea typeface="Calibri"/>
                <a:cs typeface="Calibri"/>
                <a:sym typeface="Calibri"/>
              </a:rPr>
              <a:t>A structured CI/CD pipeline, a rigorous focus on code quality and embedded automated security checks turned dependability into a verifiable and documentable target.</a:t>
            </a:r>
            <a:endParaRPr sz="1700">
              <a:solidFill>
                <a:srgbClr val="16181D"/>
              </a:solidFill>
              <a:latin typeface="Calibri"/>
              <a:ea typeface="Calibri"/>
              <a:cs typeface="Calibri"/>
              <a:sym typeface="Calibri"/>
            </a:endParaRPr>
          </a:p>
          <a:p>
            <a:pPr indent="0" lvl="0" marL="0" marR="0" rtl="0" algn="l">
              <a:lnSpc>
                <a:spcPct val="106000"/>
              </a:lnSpc>
              <a:spcBef>
                <a:spcPts val="1000"/>
              </a:spcBef>
              <a:spcAft>
                <a:spcPts val="0"/>
              </a:spcAft>
              <a:buNone/>
            </a:pPr>
            <a:r>
              <a:rPr b="1" lang="en-US" sz="1700">
                <a:solidFill>
                  <a:srgbClr val="B8860B"/>
                </a:solidFill>
                <a:latin typeface="Calibri"/>
                <a:ea typeface="Calibri"/>
                <a:cs typeface="Calibri"/>
                <a:sym typeface="Calibri"/>
              </a:rPr>
              <a:t>▸  </a:t>
            </a:r>
            <a:r>
              <a:rPr lang="en-US" sz="1700">
                <a:solidFill>
                  <a:srgbClr val="16181D"/>
                </a:solidFill>
                <a:latin typeface="Calibri"/>
                <a:ea typeface="Calibri"/>
                <a:cs typeface="Calibri"/>
                <a:sym typeface="Calibri"/>
              </a:rPr>
              <a:t>Every optimized metric, resolved vulnerability and automated validation step reinforces the application's stability, even when handling edge cases: the Rated architecture is now significantly more robust and maintainable.</a:t>
            </a:r>
            <a:endParaRPr sz="1700">
              <a:solidFill>
                <a:srgbClr val="16181D"/>
              </a:solidFill>
              <a:latin typeface="Calibri"/>
              <a:ea typeface="Calibri"/>
              <a:cs typeface="Calibri"/>
              <a:sym typeface="Calibri"/>
            </a:endParaRPr>
          </a:p>
        </p:txBody>
      </p:sp>
      <p:sp>
        <p:nvSpPr>
          <p:cNvPr id="534" name="Google Shape;534;p49"/>
          <p:cNvSpPr/>
          <p:nvPr/>
        </p:nvSpPr>
        <p:spPr>
          <a:xfrm>
            <a:off x="811530" y="4041706"/>
            <a:ext cx="1960500" cy="1234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35" name="Google Shape;535;p49"/>
          <p:cNvSpPr txBox="1"/>
          <p:nvPr/>
        </p:nvSpPr>
        <p:spPr>
          <a:xfrm>
            <a:off x="960120" y="4294585"/>
            <a:ext cx="15948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B8860B"/>
                </a:solidFill>
                <a:latin typeface="Calibri"/>
                <a:ea typeface="Calibri"/>
                <a:cs typeface="Calibri"/>
                <a:sym typeface="Calibri"/>
              </a:rPr>
              <a:t>96% / 93%</a:t>
            </a:r>
            <a:endParaRPr/>
          </a:p>
        </p:txBody>
      </p:sp>
      <p:sp>
        <p:nvSpPr>
          <p:cNvPr id="536" name="Google Shape;536;p49"/>
          <p:cNvSpPr txBox="1"/>
          <p:nvPr/>
        </p:nvSpPr>
        <p:spPr>
          <a:xfrm>
            <a:off x="914400" y="4843226"/>
            <a:ext cx="16863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instructions / branches (JaCoCo)</a:t>
            </a:r>
            <a:endParaRPr/>
          </a:p>
        </p:txBody>
      </p:sp>
      <p:sp>
        <p:nvSpPr>
          <p:cNvPr id="537" name="Google Shape;537;p49"/>
          <p:cNvSpPr/>
          <p:nvPr/>
        </p:nvSpPr>
        <p:spPr>
          <a:xfrm>
            <a:off x="2986887" y="4041706"/>
            <a:ext cx="1960500" cy="1234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38" name="Google Shape;538;p49"/>
          <p:cNvSpPr txBox="1"/>
          <p:nvPr/>
        </p:nvSpPr>
        <p:spPr>
          <a:xfrm>
            <a:off x="3121761" y="4294585"/>
            <a:ext cx="15948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B8860B"/>
                </a:solidFill>
                <a:latin typeface="Calibri"/>
                <a:ea typeface="Calibri"/>
                <a:cs typeface="Calibri"/>
                <a:sym typeface="Calibri"/>
              </a:rPr>
              <a:t>98%</a:t>
            </a:r>
            <a:endParaRPr/>
          </a:p>
        </p:txBody>
      </p:sp>
      <p:sp>
        <p:nvSpPr>
          <p:cNvPr id="539" name="Google Shape;539;p49"/>
          <p:cNvSpPr txBox="1"/>
          <p:nvPr/>
        </p:nvSpPr>
        <p:spPr>
          <a:xfrm>
            <a:off x="3076041" y="4843226"/>
            <a:ext cx="16863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mutation coverage (PIT)</a:t>
            </a:r>
            <a:endParaRPr/>
          </a:p>
        </p:txBody>
      </p:sp>
      <p:sp>
        <p:nvSpPr>
          <p:cNvPr id="540" name="Google Shape;540;p49"/>
          <p:cNvSpPr/>
          <p:nvPr/>
        </p:nvSpPr>
        <p:spPr>
          <a:xfrm>
            <a:off x="5148529" y="4041706"/>
            <a:ext cx="1960500" cy="1234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49"/>
          <p:cNvSpPr txBox="1"/>
          <p:nvPr/>
        </p:nvSpPr>
        <p:spPr>
          <a:xfrm>
            <a:off x="5321239" y="4294585"/>
            <a:ext cx="15948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1B7F4B"/>
                </a:solidFill>
                <a:latin typeface="Calibri"/>
                <a:ea typeface="Calibri"/>
                <a:cs typeface="Calibri"/>
                <a:sym typeface="Calibri"/>
              </a:rPr>
              <a:t>0</a:t>
            </a:r>
            <a:endParaRPr/>
          </a:p>
        </p:txBody>
      </p:sp>
      <p:sp>
        <p:nvSpPr>
          <p:cNvPr id="542" name="Google Shape;542;p49"/>
          <p:cNvSpPr txBox="1"/>
          <p:nvPr/>
        </p:nvSpPr>
        <p:spPr>
          <a:xfrm>
            <a:off x="5256601" y="4843226"/>
            <a:ext cx="16863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exit code of OpenJML ESC</a:t>
            </a:r>
            <a:endParaRPr/>
          </a:p>
        </p:txBody>
      </p:sp>
      <p:sp>
        <p:nvSpPr>
          <p:cNvPr id="543" name="Google Shape;543;p49"/>
          <p:cNvSpPr/>
          <p:nvPr/>
        </p:nvSpPr>
        <p:spPr>
          <a:xfrm>
            <a:off x="7294168" y="4041706"/>
            <a:ext cx="1960500" cy="1234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44" name="Google Shape;544;p49"/>
          <p:cNvSpPr txBox="1"/>
          <p:nvPr/>
        </p:nvSpPr>
        <p:spPr>
          <a:xfrm>
            <a:off x="7445044" y="4294585"/>
            <a:ext cx="15948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1B7F4B"/>
                </a:solidFill>
                <a:latin typeface="Calibri"/>
                <a:ea typeface="Calibri"/>
                <a:cs typeface="Calibri"/>
                <a:sym typeface="Calibri"/>
              </a:rPr>
              <a:t>−22.7%</a:t>
            </a:r>
            <a:endParaRPr/>
          </a:p>
        </p:txBody>
      </p:sp>
      <p:sp>
        <p:nvSpPr>
          <p:cNvPr id="545" name="Google Shape;545;p49"/>
          <p:cNvSpPr txBox="1"/>
          <p:nvPr/>
        </p:nvSpPr>
        <p:spPr>
          <a:xfrm>
            <a:off x="7399324" y="4843226"/>
            <a:ext cx="16863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ns/op on the best benchmark</a:t>
            </a:r>
            <a:endParaRPr/>
          </a:p>
        </p:txBody>
      </p:sp>
      <p:sp>
        <p:nvSpPr>
          <p:cNvPr id="546" name="Google Shape;546;p49"/>
          <p:cNvSpPr/>
          <p:nvPr/>
        </p:nvSpPr>
        <p:spPr>
          <a:xfrm>
            <a:off x="9423806" y="4041706"/>
            <a:ext cx="1960500" cy="1234500"/>
          </a:xfrm>
          <a:prstGeom prst="roundRect">
            <a:avLst>
              <a:gd fmla="val 16667" name="adj"/>
            </a:avLst>
          </a:prstGeom>
          <a:solidFill>
            <a:srgbClr val="F3F4F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47" name="Google Shape;547;p49"/>
          <p:cNvSpPr txBox="1"/>
          <p:nvPr/>
        </p:nvSpPr>
        <p:spPr>
          <a:xfrm>
            <a:off x="9606686" y="4294585"/>
            <a:ext cx="1594800" cy="50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500">
                <a:solidFill>
                  <a:srgbClr val="1B7F4B"/>
                </a:solidFill>
                <a:latin typeface="Calibri"/>
                <a:ea typeface="Calibri"/>
                <a:cs typeface="Calibri"/>
                <a:sym typeface="Calibri"/>
              </a:rPr>
              <a:t>0</a:t>
            </a:r>
            <a:endParaRPr/>
          </a:p>
        </p:txBody>
      </p:sp>
      <p:sp>
        <p:nvSpPr>
          <p:cNvPr id="548" name="Google Shape;548;p49"/>
          <p:cNvSpPr txBox="1"/>
          <p:nvPr/>
        </p:nvSpPr>
        <p:spPr>
          <a:xfrm>
            <a:off x="9560966" y="4843226"/>
            <a:ext cx="1686300" cy="38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150">
                <a:solidFill>
                  <a:srgbClr val="5B6270"/>
                </a:solidFill>
                <a:latin typeface="Calibri"/>
                <a:ea typeface="Calibri"/>
                <a:cs typeface="Calibri"/>
                <a:sym typeface="Calibri"/>
              </a:rPr>
              <a:t>security vulnerabilities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0"/>
          <p:cNvSpPr/>
          <p:nvPr/>
        </p:nvSpPr>
        <p:spPr>
          <a:xfrm>
            <a:off x="625891" y="4229886"/>
            <a:ext cx="10607100" cy="50400"/>
          </a:xfrm>
          <a:prstGeom prst="rect">
            <a:avLst/>
          </a:prstGeom>
          <a:solidFill>
            <a:srgbClr val="B8860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54" name="Google Shape;554;p50"/>
          <p:cNvSpPr txBox="1"/>
          <p:nvPr/>
        </p:nvSpPr>
        <p:spPr>
          <a:xfrm>
            <a:off x="625891" y="4458486"/>
            <a:ext cx="64008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16181D"/>
                </a:solidFill>
                <a:latin typeface="Calibri"/>
                <a:ea typeface="Calibri"/>
                <a:cs typeface="Calibri"/>
                <a:sym typeface="Calibri"/>
              </a:rPr>
              <a:t>Thanks </a:t>
            </a:r>
            <a:r>
              <a:rPr b="1" i="0" lang="en-US" sz="3000">
                <a:solidFill>
                  <a:srgbClr val="16181D"/>
                </a:solidFill>
                <a:latin typeface="Calibri"/>
                <a:ea typeface="Calibri"/>
                <a:cs typeface="Calibri"/>
                <a:sym typeface="Calibri"/>
              </a:rPr>
              <a:t>for your attention</a:t>
            </a:r>
            <a:r>
              <a:rPr b="1" lang="en-US" sz="3000">
                <a:solidFill>
                  <a:srgbClr val="16181D"/>
                </a:solidFill>
                <a:latin typeface="Calibri"/>
                <a:ea typeface="Calibri"/>
                <a:cs typeface="Calibri"/>
                <a:sym typeface="Calibri"/>
              </a:rPr>
              <a:t>!</a:t>
            </a:r>
            <a:endParaRPr b="1" i="0" sz="3000">
              <a:solidFill>
                <a:srgbClr val="16181D"/>
              </a:solidFill>
              <a:latin typeface="Calibri"/>
              <a:ea typeface="Calibri"/>
              <a:cs typeface="Calibri"/>
              <a:sym typeface="Calibri"/>
            </a:endParaRPr>
          </a:p>
        </p:txBody>
      </p:sp>
      <p:pic>
        <p:nvPicPr>
          <p:cNvPr descr="RATED_icon.png" id="555" name="Google Shape;555;p50"/>
          <p:cNvPicPr preferRelativeResize="0"/>
          <p:nvPr/>
        </p:nvPicPr>
        <p:blipFill rotWithShape="1">
          <a:blip r:embed="rId3">
            <a:alphaModFix/>
          </a:blip>
          <a:srcRect b="0" l="0" r="0" t="0"/>
          <a:stretch/>
        </p:blipFill>
        <p:spPr>
          <a:xfrm>
            <a:off x="-282201" y="652427"/>
            <a:ext cx="4267724" cy="42677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